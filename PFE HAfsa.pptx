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5"/>
  </p:notesMasterIdLst>
  <p:sldIdLst>
    <p:sldId id="256" r:id="rId2"/>
    <p:sldId id="259" r:id="rId3"/>
    <p:sldId id="261" r:id="rId4"/>
    <p:sldId id="316" r:id="rId5"/>
    <p:sldId id="257" r:id="rId6"/>
    <p:sldId id="313" r:id="rId7"/>
    <p:sldId id="269" r:id="rId8"/>
    <p:sldId id="270" r:id="rId9"/>
    <p:sldId id="258" r:id="rId10"/>
    <p:sldId id="265" r:id="rId11"/>
    <p:sldId id="277" r:id="rId12"/>
    <p:sldId id="315" r:id="rId13"/>
    <p:sldId id="284" r:id="rId14"/>
  </p:sldIdLst>
  <p:sldSz cx="9144000" cy="5143500" type="screen16x9"/>
  <p:notesSz cx="6858000" cy="9144000"/>
  <p:embeddedFontLst>
    <p:embeddedFont>
      <p:font typeface="Bahnschrift SemiBold SemiConden" panose="020B0502040204020203" pitchFamily="34" charset="0"/>
      <p:bold r:id="rId16"/>
    </p:embeddedFont>
    <p:embeddedFont>
      <p:font typeface="Livvic" pitchFamily="2" charset="0"/>
      <p:regular r:id="rId17"/>
      <p:bold r:id="rId18"/>
      <p:italic r:id="rId19"/>
      <p:boldItalic r:id="rId20"/>
    </p:embeddedFont>
    <p:embeddedFont>
      <p:font typeface="Oswald" panose="00000500000000000000" pitchFamily="2" charset="0"/>
      <p:regular r:id="rId21"/>
      <p:bold r:id="rId22"/>
    </p:embeddedFont>
    <p:embeddedFont>
      <p:font typeface="Raleway" pitchFamily="2" charset="0"/>
      <p:regular r:id="rId23"/>
      <p:bold r:id="rId24"/>
      <p:italic r:id="rId25"/>
      <p:bold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  <p:embeddedFont>
      <p:font typeface="Roboto Condensed Light" panose="02000000000000000000" pitchFamily="2" charset="0"/>
      <p:regular r:id="rId31"/>
      <p: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EB4AE4-A14F-47BC-A5D1-053754696B7E}">
  <a:tblStyle styleId="{70EB4AE4-A14F-47BC-A5D1-053754696B7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4" d="100"/>
          <a:sy n="94" d="100"/>
        </p:scale>
        <p:origin x="7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8b8ed53e21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8b8ed53e21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8b8ed53e21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8b8ed53e21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8c1997cbf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8c1997cbfd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1170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8c2221473c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8c2221473c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8c1997cbfd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8c1997cbfd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8c1997cbfd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8c1997cbfd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8c1997cbfd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8c1997cbfd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8c1997cbfd_0_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8c1997cbfd_0_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8c1997cbfd_0_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8c1997cbfd_0_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016381"/>
            <a:ext cx="4079700" cy="24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387619"/>
            <a:ext cx="2350500" cy="7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72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04850"/>
            <a:ext cx="7890600" cy="31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ivvic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 sz="1200"/>
            </a:lvl9pPr>
          </a:lstStyle>
          <a:p>
            <a:endParaRPr/>
          </a:p>
        </p:txBody>
      </p:sp>
      <p:grpSp>
        <p:nvGrpSpPr>
          <p:cNvPr id="17" name="Google Shape;17;p4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18" name="Google Shape;18;p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4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24" name="Google Shape;24;p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6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50" name="Google Shape;50;p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6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56" name="Google Shape;56;p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4939700" y="1288261"/>
            <a:ext cx="19053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4939700" y="2182538"/>
            <a:ext cx="1905300" cy="18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 hasCustomPrompt="1"/>
          </p:nvPr>
        </p:nvSpPr>
        <p:spPr>
          <a:xfrm>
            <a:off x="1903250" y="1834838"/>
            <a:ext cx="5337600" cy="1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2524200" y="2955575"/>
            <a:ext cx="4095600" cy="3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500"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94" name="Google Shape;94;p11"/>
          <p:cNvGrpSpPr/>
          <p:nvPr/>
        </p:nvGrpSpPr>
        <p:grpSpPr>
          <a:xfrm flipH="1">
            <a:off x="6720423" y="3784091"/>
            <a:ext cx="2423582" cy="1357541"/>
            <a:chOff x="-77" y="3784091"/>
            <a:chExt cx="2423582" cy="1357541"/>
          </a:xfrm>
        </p:grpSpPr>
        <p:sp>
          <p:nvSpPr>
            <p:cNvPr id="95" name="Google Shape;95;p1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" name="Google Shape;100;p11"/>
          <p:cNvGrpSpPr/>
          <p:nvPr/>
        </p:nvGrpSpPr>
        <p:grpSpPr>
          <a:xfrm rot="10800000" flipH="1">
            <a:off x="-77" y="-9"/>
            <a:ext cx="2423582" cy="1357541"/>
            <a:chOff x="-77" y="3784091"/>
            <a:chExt cx="2423582" cy="1357541"/>
          </a:xfrm>
        </p:grpSpPr>
        <p:sp>
          <p:nvSpPr>
            <p:cNvPr id="101" name="Google Shape;101;p1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9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>
            <a:spLocks noGrp="1"/>
          </p:cNvSpPr>
          <p:nvPr>
            <p:ph type="title"/>
          </p:nvPr>
        </p:nvSpPr>
        <p:spPr>
          <a:xfrm>
            <a:off x="1902600" y="1543600"/>
            <a:ext cx="5338800" cy="13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2"/>
          </p:nvPr>
        </p:nvSpPr>
        <p:spPr>
          <a:xfrm>
            <a:off x="1902600" y="2989400"/>
            <a:ext cx="5338800" cy="6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10" name="Google Shape;110;p13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111" name="Google Shape;111;p1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" name="Google Shape;116;p13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117" name="Google Shape;117;p1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5_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subTitle" idx="1"/>
          </p:nvPr>
        </p:nvSpPr>
        <p:spPr>
          <a:xfrm>
            <a:off x="719975" y="3205013"/>
            <a:ext cx="12822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subTitle" idx="2"/>
          </p:nvPr>
        </p:nvSpPr>
        <p:spPr>
          <a:xfrm>
            <a:off x="3964163" y="3205013"/>
            <a:ext cx="12822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subTitle" idx="3"/>
          </p:nvPr>
        </p:nvSpPr>
        <p:spPr>
          <a:xfrm>
            <a:off x="7141825" y="3205013"/>
            <a:ext cx="12822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subTitle" idx="4"/>
          </p:nvPr>
        </p:nvSpPr>
        <p:spPr>
          <a:xfrm>
            <a:off x="719975" y="2931341"/>
            <a:ext cx="1282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7"/>
          <p:cNvSpPr txBox="1">
            <a:spLocks noGrp="1"/>
          </p:cNvSpPr>
          <p:nvPr>
            <p:ph type="subTitle" idx="5"/>
          </p:nvPr>
        </p:nvSpPr>
        <p:spPr>
          <a:xfrm>
            <a:off x="7141825" y="2931341"/>
            <a:ext cx="1282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7"/>
          <p:cNvSpPr txBox="1">
            <a:spLocks noGrp="1"/>
          </p:cNvSpPr>
          <p:nvPr>
            <p:ph type="subTitle" idx="6"/>
          </p:nvPr>
        </p:nvSpPr>
        <p:spPr>
          <a:xfrm>
            <a:off x="3964163" y="2931341"/>
            <a:ext cx="1282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17"/>
          <p:cNvGrpSpPr/>
          <p:nvPr/>
        </p:nvGrpSpPr>
        <p:grpSpPr>
          <a:xfrm rot="-5400000" flipH="1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195" name="Google Shape;195;p17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" name="Google Shape;200;p17"/>
          <p:cNvGrpSpPr/>
          <p:nvPr/>
        </p:nvGrpSpPr>
        <p:grpSpPr>
          <a:xfrm rot="5400000" flipH="1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201" name="Google Shape;201;p17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 txBox="1">
            <a:spLocks noGrp="1"/>
          </p:cNvSpPr>
          <p:nvPr>
            <p:ph type="subTitle" idx="1"/>
          </p:nvPr>
        </p:nvSpPr>
        <p:spPr>
          <a:xfrm>
            <a:off x="719600" y="177062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0"/>
          <p:cNvSpPr txBox="1">
            <a:spLocks noGrp="1"/>
          </p:cNvSpPr>
          <p:nvPr>
            <p:ph type="title" idx="2" hasCustomPrompt="1"/>
          </p:nvPr>
        </p:nvSpPr>
        <p:spPr>
          <a:xfrm>
            <a:off x="132920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20"/>
          <p:cNvSpPr txBox="1">
            <a:spLocks noGrp="1"/>
          </p:cNvSpPr>
          <p:nvPr>
            <p:ph type="subTitle" idx="3"/>
          </p:nvPr>
        </p:nvSpPr>
        <p:spPr>
          <a:xfrm>
            <a:off x="720100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0"/>
          <p:cNvSpPr txBox="1">
            <a:spLocks noGrp="1"/>
          </p:cNvSpPr>
          <p:nvPr>
            <p:ph type="subTitle" idx="4"/>
          </p:nvPr>
        </p:nvSpPr>
        <p:spPr>
          <a:xfrm>
            <a:off x="3413500" y="17706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0"/>
          <p:cNvSpPr txBox="1">
            <a:spLocks noGrp="1"/>
          </p:cNvSpPr>
          <p:nvPr>
            <p:ph type="title" idx="5" hasCustomPrompt="1"/>
          </p:nvPr>
        </p:nvSpPr>
        <p:spPr>
          <a:xfrm>
            <a:off x="4023025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20"/>
          <p:cNvSpPr txBox="1">
            <a:spLocks noGrp="1"/>
          </p:cNvSpPr>
          <p:nvPr>
            <p:ph type="subTitle" idx="6"/>
          </p:nvPr>
        </p:nvSpPr>
        <p:spPr>
          <a:xfrm>
            <a:off x="3413738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20"/>
          <p:cNvSpPr txBox="1">
            <a:spLocks noGrp="1"/>
          </p:cNvSpPr>
          <p:nvPr>
            <p:ph type="subTitle" idx="7"/>
          </p:nvPr>
        </p:nvSpPr>
        <p:spPr>
          <a:xfrm>
            <a:off x="6107050" y="17706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0"/>
          <p:cNvSpPr txBox="1">
            <a:spLocks noGrp="1"/>
          </p:cNvSpPr>
          <p:nvPr>
            <p:ph type="title" idx="8" hasCustomPrompt="1"/>
          </p:nvPr>
        </p:nvSpPr>
        <p:spPr>
          <a:xfrm>
            <a:off x="671655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1" name="Google Shape;261;p20"/>
          <p:cNvSpPr txBox="1">
            <a:spLocks noGrp="1"/>
          </p:cNvSpPr>
          <p:nvPr>
            <p:ph type="subTitle" idx="9"/>
          </p:nvPr>
        </p:nvSpPr>
        <p:spPr>
          <a:xfrm>
            <a:off x="6107101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0"/>
          <p:cNvSpPr txBox="1">
            <a:spLocks noGrp="1"/>
          </p:cNvSpPr>
          <p:nvPr>
            <p:ph type="subTitle" idx="13"/>
          </p:nvPr>
        </p:nvSpPr>
        <p:spPr>
          <a:xfrm>
            <a:off x="719600" y="3395477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0"/>
          <p:cNvSpPr txBox="1">
            <a:spLocks noGrp="1"/>
          </p:cNvSpPr>
          <p:nvPr>
            <p:ph type="title" idx="14" hasCustomPrompt="1"/>
          </p:nvPr>
        </p:nvSpPr>
        <p:spPr>
          <a:xfrm>
            <a:off x="1329200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4" name="Google Shape;264;p20"/>
          <p:cNvSpPr txBox="1">
            <a:spLocks noGrp="1"/>
          </p:cNvSpPr>
          <p:nvPr>
            <p:ph type="subTitle" idx="15"/>
          </p:nvPr>
        </p:nvSpPr>
        <p:spPr>
          <a:xfrm>
            <a:off x="720100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0"/>
          <p:cNvSpPr txBox="1">
            <a:spLocks noGrp="1"/>
          </p:cNvSpPr>
          <p:nvPr>
            <p:ph type="subTitle" idx="16"/>
          </p:nvPr>
        </p:nvSpPr>
        <p:spPr>
          <a:xfrm>
            <a:off x="3413400" y="3395477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20"/>
          <p:cNvSpPr txBox="1">
            <a:spLocks noGrp="1"/>
          </p:cNvSpPr>
          <p:nvPr>
            <p:ph type="title" idx="17" hasCustomPrompt="1"/>
          </p:nvPr>
        </p:nvSpPr>
        <p:spPr>
          <a:xfrm>
            <a:off x="4023025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7" name="Google Shape;267;p20"/>
          <p:cNvSpPr txBox="1">
            <a:spLocks noGrp="1"/>
          </p:cNvSpPr>
          <p:nvPr>
            <p:ph type="subTitle" idx="18"/>
          </p:nvPr>
        </p:nvSpPr>
        <p:spPr>
          <a:xfrm>
            <a:off x="3413738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0"/>
          <p:cNvSpPr txBox="1">
            <a:spLocks noGrp="1"/>
          </p:cNvSpPr>
          <p:nvPr>
            <p:ph type="subTitle" idx="19"/>
          </p:nvPr>
        </p:nvSpPr>
        <p:spPr>
          <a:xfrm>
            <a:off x="6107050" y="339547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0"/>
          <p:cNvSpPr txBox="1">
            <a:spLocks noGrp="1"/>
          </p:cNvSpPr>
          <p:nvPr>
            <p:ph type="title" idx="20" hasCustomPrompt="1"/>
          </p:nvPr>
        </p:nvSpPr>
        <p:spPr>
          <a:xfrm>
            <a:off x="6716550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20"/>
          <p:cNvSpPr txBox="1">
            <a:spLocks noGrp="1"/>
          </p:cNvSpPr>
          <p:nvPr>
            <p:ph type="subTitle" idx="21"/>
          </p:nvPr>
        </p:nvSpPr>
        <p:spPr>
          <a:xfrm>
            <a:off x="6107101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71" name="Google Shape;271;p20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272" name="Google Shape;272;p20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7" name="Google Shape;277;p20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278" name="Google Shape;278;p20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23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433" name="Google Shape;433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8" name="Google Shape;438;p23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439" name="Google Shape;439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4" name="Google Shape;444;p23"/>
          <p:cNvGrpSpPr/>
          <p:nvPr/>
        </p:nvGrpSpPr>
        <p:grpSpPr>
          <a:xfrm flipH="1">
            <a:off x="8121500" y="4569896"/>
            <a:ext cx="1022509" cy="572747"/>
            <a:chOff x="-77" y="3784091"/>
            <a:chExt cx="2423582" cy="1357541"/>
          </a:xfrm>
        </p:grpSpPr>
        <p:sp>
          <p:nvSpPr>
            <p:cNvPr id="445" name="Google Shape;445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23"/>
          <p:cNvGrpSpPr/>
          <p:nvPr/>
        </p:nvGrpSpPr>
        <p:grpSpPr>
          <a:xfrm rot="10800000" flipH="1">
            <a:off x="0" y="846"/>
            <a:ext cx="1022509" cy="572747"/>
            <a:chOff x="-77" y="3784091"/>
            <a:chExt cx="2423582" cy="1357541"/>
          </a:xfrm>
        </p:grpSpPr>
        <p:sp>
          <p:nvSpPr>
            <p:cNvPr id="451" name="Google Shape;451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oogle Shape;457;p24"/>
          <p:cNvGrpSpPr/>
          <p:nvPr/>
        </p:nvGrpSpPr>
        <p:grpSpPr>
          <a:xfrm rot="5400000" flipH="1">
            <a:off x="-533027" y="3252941"/>
            <a:ext cx="2423582" cy="1357541"/>
            <a:chOff x="-77" y="3784091"/>
            <a:chExt cx="2423582" cy="1357541"/>
          </a:xfrm>
        </p:grpSpPr>
        <p:sp>
          <p:nvSpPr>
            <p:cNvPr id="458" name="Google Shape;458;p2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24"/>
          <p:cNvGrpSpPr/>
          <p:nvPr/>
        </p:nvGrpSpPr>
        <p:grpSpPr>
          <a:xfrm rot="-5400000" flipH="1">
            <a:off x="7253448" y="533016"/>
            <a:ext cx="2423582" cy="1357541"/>
            <a:chOff x="-77" y="3784091"/>
            <a:chExt cx="2423582" cy="1357541"/>
          </a:xfrm>
        </p:grpSpPr>
        <p:sp>
          <p:nvSpPr>
            <p:cNvPr id="464" name="Google Shape;464;p2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5346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7391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7" r:id="rId6"/>
    <p:sldLayoutId id="2147483659" r:id="rId7"/>
    <p:sldLayoutId id="2147483663" r:id="rId8"/>
    <p:sldLayoutId id="2147483666" r:id="rId9"/>
    <p:sldLayoutId id="2147483669" r:id="rId10"/>
    <p:sldLayoutId id="2147483670" r:id="rId11"/>
    <p:sldLayoutId id="2147483674" r:id="rId12"/>
    <p:sldLayoutId id="2147483675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54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340">
          <p15:clr>
            <a:srgbClr val="EA4335"/>
          </p15:clr>
        </p15:guide>
        <p15:guide id="6" orient="horz" pos="2878">
          <p15:clr>
            <a:srgbClr val="EA4335"/>
          </p15:clr>
        </p15:guide>
        <p15:guide id="7" pos="1667">
          <p15:clr>
            <a:srgbClr val="EA4335"/>
          </p15:clr>
        </p15:guide>
        <p15:guide id="8" pos="40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plateforme_recrutement/index.ph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7"/>
          <p:cNvSpPr txBox="1">
            <a:spLocks noGrp="1"/>
          </p:cNvSpPr>
          <p:nvPr>
            <p:ph type="ctrTitle"/>
          </p:nvPr>
        </p:nvSpPr>
        <p:spPr>
          <a:xfrm>
            <a:off x="981779" y="602371"/>
            <a:ext cx="7180442" cy="1813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fr-FR" sz="2400" b="1" kern="100" dirty="0">
                <a:solidFill>
                  <a:schemeClr val="bg2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PLATEFORME WEB DE RECRUTEMENT  INTELLIGENTE</a:t>
            </a:r>
            <a:endParaRPr sz="4000" b="1" dirty="0">
              <a:solidFill>
                <a:schemeClr val="bg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8" name="Google Shape;478;p27"/>
          <p:cNvSpPr txBox="1">
            <a:spLocks noGrp="1"/>
          </p:cNvSpPr>
          <p:nvPr>
            <p:ph type="subTitle" idx="1"/>
          </p:nvPr>
        </p:nvSpPr>
        <p:spPr>
          <a:xfrm>
            <a:off x="-113966" y="4166848"/>
            <a:ext cx="4241541" cy="11426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fr-FR" sz="2000" b="1" dirty="0">
                <a:solidFill>
                  <a:schemeClr val="bg2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TALL Habssatou Mamadou</a:t>
            </a:r>
          </a:p>
          <a:p>
            <a:pPr algn="ctr"/>
            <a:r>
              <a:rPr lang="fr-FR" sz="2000" dirty="0">
                <a:solidFill>
                  <a:schemeClr val="bg2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Encadrant</a:t>
            </a:r>
            <a:r>
              <a:rPr lang="fr-FR" dirty="0">
                <a:solidFill>
                  <a:schemeClr val="bg2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 : </a:t>
            </a:r>
            <a:r>
              <a:rPr lang="fr-FR" b="1" dirty="0">
                <a:solidFill>
                  <a:schemeClr val="bg2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M. Tourad</a:t>
            </a:r>
            <a:endParaRPr lang="fr-FR" dirty="0">
              <a:solidFill>
                <a:schemeClr val="bg2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9DC3E5B-1ECC-8798-F331-ED69B18C1B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-342586" y="-64355"/>
            <a:ext cx="1885854" cy="133345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C291ED2-BE05-79AC-5BF5-516A6495C218}"/>
              </a:ext>
            </a:extLst>
          </p:cNvPr>
          <p:cNvSpPr txBox="1"/>
          <p:nvPr/>
        </p:nvSpPr>
        <p:spPr>
          <a:xfrm>
            <a:off x="1739302" y="241300"/>
            <a:ext cx="61262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6699"/>
                </a:solidFill>
                <a:latin typeface="Calibri" panose="020F0502020204030204" pitchFamily="34" charset="0"/>
              </a:rPr>
              <a:t>SOUTENANCE DE PROJET DE FIN D'ETUDES</a:t>
            </a:r>
            <a:br>
              <a:rPr lang="fr-FR" sz="2400" b="1" dirty="0">
                <a:solidFill>
                  <a:srgbClr val="006699"/>
                </a:solidFill>
                <a:latin typeface="Calibri" panose="020F0502020204030204" pitchFamily="34" charset="0"/>
              </a:rPr>
            </a:br>
            <a:br>
              <a:rPr lang="fr-FR" sz="2400" b="1" dirty="0">
                <a:solidFill>
                  <a:srgbClr val="006699"/>
                </a:solidFill>
                <a:latin typeface="Calibri" panose="020F0502020204030204" pitchFamily="34" charset="0"/>
              </a:rPr>
            </a:br>
            <a:br>
              <a:rPr lang="fr-FR" sz="2400" b="1" dirty="0">
                <a:solidFill>
                  <a:srgbClr val="006699"/>
                </a:solidFill>
                <a:latin typeface="Calibri" panose="020F0502020204030204" pitchFamily="34" charset="0"/>
              </a:rPr>
            </a:br>
            <a:br>
              <a:rPr lang="fr-FR" sz="2400" b="1" dirty="0">
                <a:solidFill>
                  <a:srgbClr val="006699"/>
                </a:solidFill>
                <a:latin typeface="Calibri" panose="020F0502020204030204" pitchFamily="34" charset="0"/>
              </a:rPr>
            </a:br>
            <a:endParaRPr lang="fr-FR" sz="24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91D49D7-AEB8-28A2-FF80-6F0D5B073E18}"/>
              </a:ext>
            </a:extLst>
          </p:cNvPr>
          <p:cNvSpPr txBox="1"/>
          <p:nvPr/>
        </p:nvSpPr>
        <p:spPr>
          <a:xfrm>
            <a:off x="2111755" y="1210796"/>
            <a:ext cx="5753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2">
                    <a:lumMod val="75000"/>
                    <a:lumOff val="25000"/>
                  </a:schemeClr>
                </a:solidFill>
              </a:rPr>
              <a:t>DEVELOPPEMENT INFORMATIQUE</a:t>
            </a:r>
          </a:p>
        </p:txBody>
      </p:sp>
      <p:pic>
        <p:nvPicPr>
          <p:cNvPr id="1026" name="Picture 2" descr="Logo moderne Admissio">
            <a:extLst>
              <a:ext uri="{FF2B5EF4-FFF2-40B4-BE49-F238E27FC236}">
                <a16:creationId xmlns:a16="http://schemas.microsoft.com/office/drawing/2014/main" id="{8899D763-C948-2596-EB4D-E2B4AD177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841" y="2298700"/>
            <a:ext cx="3407899" cy="284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" grpId="0"/>
      <p:bldP spid="478" grpId="0" build="p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9C18F18-B0FE-C81D-A7C1-63E1DB071AD4}"/>
              </a:ext>
            </a:extLst>
          </p:cNvPr>
          <p:cNvSpPr txBox="1"/>
          <p:nvPr/>
        </p:nvSpPr>
        <p:spPr>
          <a:xfrm>
            <a:off x="0" y="919118"/>
            <a:ext cx="8090346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2000" dirty="0">
                <a:solidFill>
                  <a:schemeClr val="bg2"/>
                </a:solidFill>
                <a:latin typeface="Calibri" panose="020F0502020204030204" pitchFamily="34" charset="0"/>
              </a:rPr>
              <a:t>La transformation numérique pousse les organisations a moderniser leurs processus RH. Le recrutement traditionnel (papier, e-mail) est lent, peu transparent et difficile a gérer.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49C8A54-0DFD-52A3-2B53-DF8486A44045}"/>
              </a:ext>
            </a:extLst>
          </p:cNvPr>
          <p:cNvSpPr txBox="1"/>
          <p:nvPr/>
        </p:nvSpPr>
        <p:spPr>
          <a:xfrm>
            <a:off x="0" y="104258"/>
            <a:ext cx="6715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i="0" dirty="0">
                <a:solidFill>
                  <a:schemeClr val="bg2"/>
                </a:solidFill>
                <a:effectLst/>
                <a:latin typeface="+mj-lt"/>
              </a:rPr>
              <a:t>CONTEXTE &amp; </a:t>
            </a:r>
            <a:r>
              <a:rPr lang="fr-FR" sz="3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PROBLÉMATIQUE</a:t>
            </a:r>
            <a:endParaRPr lang="fr-FR" sz="3600" dirty="0">
              <a:latin typeface="+mj-lt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779C6D6-3081-9F98-7937-0033A580D834}"/>
              </a:ext>
            </a:extLst>
          </p:cNvPr>
          <p:cNvSpPr txBox="1"/>
          <p:nvPr/>
        </p:nvSpPr>
        <p:spPr>
          <a:xfrm>
            <a:off x="-198120" y="2419860"/>
            <a:ext cx="934212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 algn="just">
              <a:lnSpc>
                <a:spcPct val="150000"/>
              </a:lnSpc>
              <a:buNone/>
            </a:pPr>
            <a:r>
              <a:rPr lang="fr-FR" sz="18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 le candidat : </a:t>
            </a:r>
            <a:r>
              <a:rPr lang="fr-FR" sz="1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candidats subissent des délais sans réponse et des</a:t>
            </a:r>
          </a:p>
          <a:p>
            <a:pPr marL="139700" indent="0" algn="just">
              <a:lnSpc>
                <a:spcPct val="150000"/>
              </a:lnSpc>
              <a:buNone/>
            </a:pPr>
            <a:r>
              <a:rPr lang="fr-FR" sz="1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déplacements couteux </a:t>
            </a:r>
          </a:p>
          <a:p>
            <a:pPr marL="139700" indent="0" algn="just">
              <a:lnSpc>
                <a:spcPct val="150000"/>
              </a:lnSpc>
              <a:buNone/>
            </a:pPr>
            <a:r>
              <a:rPr lang="fr-FR" sz="18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 le recruteur</a:t>
            </a:r>
            <a:r>
              <a:rPr lang="fr-FR" sz="18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: Des centaines de CV à trier à la main</a:t>
            </a:r>
            <a:r>
              <a:rPr lang="fr-FR" sz="1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2"/>
          <p:cNvSpPr txBox="1">
            <a:spLocks noGrp="1"/>
          </p:cNvSpPr>
          <p:nvPr>
            <p:ph type="title"/>
          </p:nvPr>
        </p:nvSpPr>
        <p:spPr>
          <a:xfrm>
            <a:off x="1301262" y="43799"/>
            <a:ext cx="6820743" cy="7055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  <a:endParaRPr lang="fr-FR" sz="3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1" name="Google Shape;741;p32"/>
          <p:cNvSpPr txBox="1">
            <a:spLocks noGrp="1"/>
          </p:cNvSpPr>
          <p:nvPr>
            <p:ph type="body" idx="1"/>
          </p:nvPr>
        </p:nvSpPr>
        <p:spPr>
          <a:xfrm>
            <a:off x="83970" y="1102525"/>
            <a:ext cx="8332717" cy="33487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fr-FR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 répondre à ce besoin, nous avons créé Admissio. C'est une plateforme simple et sécurisée qui regroupe tout le recrutement au même endroit. Grâce à l'IA Gemini, elle trie automatiquement les CV pour faire gagner du temps aux recruteurs et simplifier la vie des candidats.</a:t>
            </a:r>
            <a:endParaRPr lang="fr-FR" sz="2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47" name="Google Shape;747;p32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748" name="Google Shape;748;p32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2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2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2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2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3" name="Google Shape;753;p32"/>
          <p:cNvGrpSpPr/>
          <p:nvPr/>
        </p:nvGrpSpPr>
        <p:grpSpPr>
          <a:xfrm rot="10800000" flipH="1">
            <a:off x="0" y="-4"/>
            <a:ext cx="1022509" cy="572747"/>
            <a:chOff x="-77" y="3784091"/>
            <a:chExt cx="2423582" cy="1357541"/>
          </a:xfrm>
        </p:grpSpPr>
        <p:sp>
          <p:nvSpPr>
            <p:cNvPr id="754" name="Google Shape;754;p32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2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2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2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2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261125CB-ABB3-63B1-00A1-A5D00CF62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914" y="3233983"/>
            <a:ext cx="1885086" cy="18669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ous-titre 4">
            <a:extLst>
              <a:ext uri="{FF2B5EF4-FFF2-40B4-BE49-F238E27FC236}">
                <a16:creationId xmlns:a16="http://schemas.microsoft.com/office/drawing/2014/main" id="{1BC19CC2-C847-1BD8-3B87-B988073679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60" y="1739668"/>
            <a:ext cx="2323651" cy="1777042"/>
          </a:xfrm>
        </p:spPr>
        <p:txBody>
          <a:bodyPr/>
          <a:lstStyle/>
          <a:p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fr-FR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Créer un profil envoyer son CV suivre son dossier</a:t>
            </a:r>
          </a:p>
          <a:p>
            <a:endParaRPr lang="fr-FR" dirty="0"/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7E75FEAD-AE72-E6E0-DD62-2EC56BCA0FEA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055171" y="1964006"/>
            <a:ext cx="2173045" cy="1777042"/>
          </a:xfrm>
        </p:spPr>
        <p:txBody>
          <a:bodyPr/>
          <a:lstStyle/>
          <a:p>
            <a:r>
              <a:rPr lang="fr-FR" sz="18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Publier des offres </a:t>
            </a:r>
            <a:r>
              <a:rPr lang="fr-FR" sz="18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Organiser des</a:t>
            </a:r>
          </a:p>
          <a:p>
            <a:r>
              <a:rPr lang="fr-FR" sz="18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entretiens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E4B1DF62-FFA1-2205-3ECB-F8B53E252C91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6519135" y="1964006"/>
            <a:ext cx="2323651" cy="1271400"/>
          </a:xfrm>
        </p:spPr>
        <p:txBody>
          <a:bodyPr/>
          <a:lstStyle/>
          <a:p>
            <a:r>
              <a:rPr lang="fr-FR" sz="18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Valider le</a:t>
            </a:r>
          </a:p>
          <a:p>
            <a:r>
              <a:rPr lang="fr-FR" sz="18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Entreprises</a:t>
            </a:r>
          </a:p>
          <a:p>
            <a:r>
              <a:rPr lang="fr-FR" sz="18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surveiller le site.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FBF25FC4-15FD-18CB-BF68-8FFE890A5CAA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4543" y="724749"/>
            <a:ext cx="2323651" cy="902042"/>
          </a:xfrm>
        </p:spPr>
        <p:txBody>
          <a:bodyPr/>
          <a:lstStyle/>
          <a:p>
            <a:r>
              <a:rPr lang="fr-FR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Espace Candidat</a:t>
            </a:r>
            <a:r>
              <a:rPr lang="fr-FR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fr-FR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ous-titre 8">
            <a:extLst>
              <a:ext uri="{FF2B5EF4-FFF2-40B4-BE49-F238E27FC236}">
                <a16:creationId xmlns:a16="http://schemas.microsoft.com/office/drawing/2014/main" id="{0F7B29C7-27B1-4CAB-85AF-D7B5697B205D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6045798" y="1237091"/>
            <a:ext cx="2898953" cy="389700"/>
          </a:xfrm>
        </p:spPr>
        <p:txBody>
          <a:bodyPr/>
          <a:lstStyle/>
          <a:p>
            <a:r>
              <a:rPr lang="fr-FR" sz="1800" b="1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Espace Administrateur</a:t>
            </a:r>
            <a:r>
              <a:rPr lang="fr-FR" sz="18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0" name="Sous-titre 9">
            <a:extLst>
              <a:ext uri="{FF2B5EF4-FFF2-40B4-BE49-F238E27FC236}">
                <a16:creationId xmlns:a16="http://schemas.microsoft.com/office/drawing/2014/main" id="{5D4F9D3D-5148-D67A-B2AF-CFCD5E5DB50E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3055171" y="1237091"/>
            <a:ext cx="2323650" cy="389700"/>
          </a:xfrm>
        </p:spPr>
        <p:txBody>
          <a:bodyPr/>
          <a:lstStyle/>
          <a:p>
            <a:r>
              <a:rPr lang="fr-FR" sz="1800" b="1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Espace Recruteur</a:t>
            </a:r>
            <a:r>
              <a:rPr lang="fr-FR" sz="18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4066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90000"/>
            <a:lumOff val="10000"/>
          </a:schemeClr>
        </a:solidFill>
        <a:effectLst/>
      </p:bgPr>
    </p:bg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F2F72419-CAA4-0D6A-3B22-975AD9E2EF4A}"/>
              </a:ext>
            </a:extLst>
          </p:cNvPr>
          <p:cNvSpPr/>
          <p:nvPr/>
        </p:nvSpPr>
        <p:spPr>
          <a:xfrm>
            <a:off x="84150" y="2543857"/>
            <a:ext cx="6956730" cy="47466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>
                <a:solidFill>
                  <a:schemeClr val="bg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III.    Sécurisation de la Plateforme (OWASP)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0D8BD089-7346-2ED4-5ECA-41414C6C5DC8}"/>
              </a:ext>
            </a:extLst>
          </p:cNvPr>
          <p:cNvSpPr/>
          <p:nvPr/>
        </p:nvSpPr>
        <p:spPr>
          <a:xfrm>
            <a:off x="-405104" y="2950950"/>
            <a:ext cx="7103926" cy="47466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                 IV.  Démonstration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EEB8CA2-7FA0-978C-58EC-626003827544}"/>
              </a:ext>
            </a:extLst>
          </p:cNvPr>
          <p:cNvSpPr/>
          <p:nvPr/>
        </p:nvSpPr>
        <p:spPr>
          <a:xfrm>
            <a:off x="762000" y="3393716"/>
            <a:ext cx="5618480" cy="47466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 algn="just">
              <a:lnSpc>
                <a:spcPct val="150000"/>
              </a:lnSpc>
              <a:buClr>
                <a:schemeClr val="bg1"/>
              </a:buClr>
              <a:buFont typeface="+mj-lt"/>
              <a:buAutoNum type="romanUcPeriod"/>
            </a:pPr>
            <a:r>
              <a:rPr lang="fr-FR" sz="2000" dirty="0">
                <a:solidFill>
                  <a:schemeClr val="bg2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                VI.  Conclusion et Perspectives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44E06D32-314D-2078-1B2E-198A5724F180}"/>
              </a:ext>
            </a:extLst>
          </p:cNvPr>
          <p:cNvSpPr/>
          <p:nvPr/>
        </p:nvSpPr>
        <p:spPr>
          <a:xfrm>
            <a:off x="-38100" y="1408526"/>
            <a:ext cx="2520000" cy="2520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A175432-A501-18D3-9534-21FBA3ECFB46}"/>
              </a:ext>
            </a:extLst>
          </p:cNvPr>
          <p:cNvSpPr/>
          <p:nvPr/>
        </p:nvSpPr>
        <p:spPr>
          <a:xfrm>
            <a:off x="260984" y="2081207"/>
            <a:ext cx="7103926" cy="47466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>
                <a:solidFill>
                  <a:schemeClr val="bg2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                                  II.    Réalisation  Technique et Intégration de l'IA</a:t>
            </a:r>
            <a:endParaRPr lang="fr-FR" sz="1800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7ADC07D-EFAD-CE7F-2047-302FB8B32649}"/>
              </a:ext>
            </a:extLst>
          </p:cNvPr>
          <p:cNvSpPr/>
          <p:nvPr/>
        </p:nvSpPr>
        <p:spPr>
          <a:xfrm>
            <a:off x="600074" y="1627478"/>
            <a:ext cx="7103926" cy="47466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 algn="just">
              <a:lnSpc>
                <a:spcPct val="150000"/>
              </a:lnSpc>
              <a:buClr>
                <a:schemeClr val="bg1"/>
              </a:buClr>
              <a:buFont typeface="+mj-lt"/>
              <a:buAutoNum type="romanUcPeriod"/>
            </a:pPr>
            <a:r>
              <a:rPr lang="fr-FR" sz="1800" dirty="0">
                <a:solidFill>
                  <a:schemeClr val="bg2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                   I.   Modélisation  et Conception (BDD)</a:t>
            </a:r>
          </a:p>
        </p:txBody>
      </p:sp>
      <p:sp>
        <p:nvSpPr>
          <p:cNvPr id="666" name="Google Shape;666;p28"/>
          <p:cNvSpPr txBox="1">
            <a:spLocks noGrp="1"/>
          </p:cNvSpPr>
          <p:nvPr>
            <p:ph type="title"/>
          </p:nvPr>
        </p:nvSpPr>
        <p:spPr>
          <a:xfrm>
            <a:off x="0" y="8157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fr-FR" sz="36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	</a:t>
            </a:r>
            <a:r>
              <a:rPr lang="fr-FR" sz="3600" dirty="0">
                <a:solidFill>
                  <a:schemeClr val="bg1"/>
                </a:solidFill>
                <a:latin typeface="+mj-lt"/>
              </a:rPr>
              <a:t>METHOLOGIE</a:t>
            </a:r>
            <a:br>
              <a:rPr lang="fr-FR" sz="3600" dirty="0">
                <a:solidFill>
                  <a:schemeClr val="bg1"/>
                </a:solidFill>
                <a:latin typeface="+mj-lt"/>
              </a:rPr>
            </a:br>
            <a:endParaRPr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78737F6-1AB7-4D43-EF45-25B4B466F575}"/>
              </a:ext>
            </a:extLst>
          </p:cNvPr>
          <p:cNvSpPr/>
          <p:nvPr/>
        </p:nvSpPr>
        <p:spPr>
          <a:xfrm>
            <a:off x="84150" y="1552526"/>
            <a:ext cx="2232000" cy="2232000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2" grpId="0" animBg="1"/>
      <p:bldP spid="3" grpId="0" animBg="1"/>
      <p:bldP spid="8" grpId="0" animBg="1"/>
      <p:bldP spid="7" grpId="0" animBg="1"/>
      <p:bldP spid="666" grpId="0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1"/>
          <p:cNvSpPr txBox="1">
            <a:spLocks noGrp="1"/>
          </p:cNvSpPr>
          <p:nvPr>
            <p:ph type="title"/>
          </p:nvPr>
        </p:nvSpPr>
        <p:spPr>
          <a:xfrm>
            <a:off x="16155" y="-66929"/>
            <a:ext cx="7973054" cy="11325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fr-FR" sz="2800" b="1" i="0" dirty="0">
                <a:solidFill>
                  <a:schemeClr val="bg2"/>
                </a:solidFill>
                <a:effectLst/>
                <a:latin typeface="+mj-lt"/>
              </a:rPr>
              <a:t>MODÉLISATION</a:t>
            </a:r>
            <a:br>
              <a:rPr lang="fr-FR" sz="2800" b="1" dirty="0">
                <a:solidFill>
                  <a:schemeClr val="bg2"/>
                </a:solidFill>
                <a:latin typeface="+mj-lt"/>
              </a:rPr>
            </a:br>
            <a:endParaRPr lang="fr-FR" dirty="0">
              <a:solidFill>
                <a:schemeClr val="bg2"/>
              </a:solidFill>
              <a:latin typeface="+mj-lt"/>
            </a:endParaRPr>
          </a:p>
        </p:txBody>
      </p:sp>
      <p:grpSp>
        <p:nvGrpSpPr>
          <p:cNvPr id="713" name="Google Shape;713;p31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714" name="Google Shape;714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9" name="Google Shape;719;p31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720" name="Google Shape;720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26A2457F-CDF6-8EEF-F75C-078BD92A1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3502"/>
            <a:ext cx="4075337" cy="4348278"/>
          </a:xfrm>
          <a:prstGeom prst="rect">
            <a:avLst/>
          </a:prstGeom>
        </p:spPr>
      </p:pic>
      <p:grpSp>
        <p:nvGrpSpPr>
          <p:cNvPr id="3" name="Google Shape;1191;p48">
            <a:extLst>
              <a:ext uri="{FF2B5EF4-FFF2-40B4-BE49-F238E27FC236}">
                <a16:creationId xmlns:a16="http://schemas.microsoft.com/office/drawing/2014/main" id="{8979ECA9-6493-657F-F9DB-722508F99A8C}"/>
              </a:ext>
            </a:extLst>
          </p:cNvPr>
          <p:cNvGrpSpPr/>
          <p:nvPr/>
        </p:nvGrpSpPr>
        <p:grpSpPr>
          <a:xfrm>
            <a:off x="6800557" y="2191743"/>
            <a:ext cx="2377304" cy="2377303"/>
            <a:chOff x="5612559" y="834972"/>
            <a:chExt cx="3473559" cy="3473558"/>
          </a:xfrm>
        </p:grpSpPr>
        <p:sp>
          <p:nvSpPr>
            <p:cNvPr id="4" name="Google Shape;1192;p48">
              <a:extLst>
                <a:ext uri="{FF2B5EF4-FFF2-40B4-BE49-F238E27FC236}">
                  <a16:creationId xmlns:a16="http://schemas.microsoft.com/office/drawing/2014/main" id="{31EE315A-B009-DF0E-17F1-2A93FE764D1D}"/>
                </a:ext>
              </a:extLst>
            </p:cNvPr>
            <p:cNvSpPr/>
            <p:nvPr/>
          </p:nvSpPr>
          <p:spPr>
            <a:xfrm>
              <a:off x="5633446" y="3018036"/>
              <a:ext cx="2894635" cy="1273649"/>
            </a:xfrm>
            <a:custGeom>
              <a:avLst/>
              <a:gdLst/>
              <a:ahLst/>
              <a:cxnLst/>
              <a:rect l="l" t="t" r="r" b="b"/>
              <a:pathLst>
                <a:path w="163101" h="71765" extrusionOk="0">
                  <a:moveTo>
                    <a:pt x="1" y="0"/>
                  </a:moveTo>
                  <a:lnTo>
                    <a:pt x="1" y="58716"/>
                  </a:lnTo>
                  <a:cubicBezTo>
                    <a:pt x="1" y="65925"/>
                    <a:pt x="5840" y="71764"/>
                    <a:pt x="13049" y="71764"/>
                  </a:cubicBezTo>
                  <a:lnTo>
                    <a:pt x="163100" y="71764"/>
                  </a:lnTo>
                  <a:cubicBezTo>
                    <a:pt x="155891" y="71764"/>
                    <a:pt x="150052" y="65925"/>
                    <a:pt x="150052" y="58716"/>
                  </a:cubicBezTo>
                  <a:lnTo>
                    <a:pt x="1500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193;p48">
              <a:extLst>
                <a:ext uri="{FF2B5EF4-FFF2-40B4-BE49-F238E27FC236}">
                  <a16:creationId xmlns:a16="http://schemas.microsoft.com/office/drawing/2014/main" id="{9C71CBDE-4FCC-92A8-31B5-0B1952B43342}"/>
                </a:ext>
              </a:extLst>
            </p:cNvPr>
            <p:cNvSpPr/>
            <p:nvPr/>
          </p:nvSpPr>
          <p:spPr>
            <a:xfrm>
              <a:off x="5612559" y="2571742"/>
              <a:ext cx="2663066" cy="463157"/>
            </a:xfrm>
            <a:custGeom>
              <a:avLst/>
              <a:gdLst/>
              <a:ahLst/>
              <a:cxnLst/>
              <a:rect l="l" t="t" r="r" b="b"/>
              <a:pathLst>
                <a:path w="150053" h="26097" extrusionOk="0">
                  <a:moveTo>
                    <a:pt x="13049" y="1"/>
                  </a:moveTo>
                  <a:cubicBezTo>
                    <a:pt x="5840" y="1"/>
                    <a:pt x="1" y="5840"/>
                    <a:pt x="1" y="13049"/>
                  </a:cubicBezTo>
                  <a:lnTo>
                    <a:pt x="1" y="26096"/>
                  </a:lnTo>
                  <a:lnTo>
                    <a:pt x="150052" y="26096"/>
                  </a:lnTo>
                  <a:cubicBezTo>
                    <a:pt x="150052" y="18887"/>
                    <a:pt x="144213" y="13049"/>
                    <a:pt x="137004" y="13049"/>
                  </a:cubicBezTo>
                  <a:lnTo>
                    <a:pt x="52193" y="13049"/>
                  </a:lnTo>
                  <a:lnTo>
                    <a:pt x="46321" y="5220"/>
                  </a:lnTo>
                  <a:cubicBezTo>
                    <a:pt x="43842" y="1925"/>
                    <a:pt x="39993" y="1"/>
                    <a:pt x="35883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1194;p48">
              <a:extLst>
                <a:ext uri="{FF2B5EF4-FFF2-40B4-BE49-F238E27FC236}">
                  <a16:creationId xmlns:a16="http://schemas.microsoft.com/office/drawing/2014/main" id="{07076D3E-46E9-F7F6-088A-0C0EC8BE662F}"/>
                </a:ext>
              </a:extLst>
            </p:cNvPr>
            <p:cNvSpPr/>
            <p:nvPr/>
          </p:nvSpPr>
          <p:spPr>
            <a:xfrm>
              <a:off x="6075698" y="1413895"/>
              <a:ext cx="2663066" cy="2894635"/>
            </a:xfrm>
            <a:custGeom>
              <a:avLst/>
              <a:gdLst/>
              <a:ahLst/>
              <a:cxnLst/>
              <a:rect l="l" t="t" r="r" b="b"/>
              <a:pathLst>
                <a:path w="150053" h="163101" extrusionOk="0">
                  <a:moveTo>
                    <a:pt x="55455" y="1"/>
                  </a:moveTo>
                  <a:lnTo>
                    <a:pt x="48931" y="6525"/>
                  </a:lnTo>
                  <a:lnTo>
                    <a:pt x="1" y="6525"/>
                  </a:lnTo>
                  <a:lnTo>
                    <a:pt x="1" y="65241"/>
                  </a:lnTo>
                  <a:lnTo>
                    <a:pt x="9787" y="65241"/>
                  </a:lnTo>
                  <a:cubicBezTo>
                    <a:pt x="13897" y="65241"/>
                    <a:pt x="17746" y="67165"/>
                    <a:pt x="20225" y="70460"/>
                  </a:cubicBezTo>
                  <a:lnTo>
                    <a:pt x="26097" y="78289"/>
                  </a:lnTo>
                  <a:lnTo>
                    <a:pt x="110908" y="78289"/>
                  </a:lnTo>
                  <a:cubicBezTo>
                    <a:pt x="118117" y="78289"/>
                    <a:pt x="123956" y="84127"/>
                    <a:pt x="123956" y="91336"/>
                  </a:cubicBezTo>
                  <a:lnTo>
                    <a:pt x="123956" y="150052"/>
                  </a:lnTo>
                  <a:cubicBezTo>
                    <a:pt x="123956" y="157261"/>
                    <a:pt x="129795" y="163100"/>
                    <a:pt x="137004" y="163100"/>
                  </a:cubicBezTo>
                  <a:cubicBezTo>
                    <a:pt x="140592" y="163100"/>
                    <a:pt x="143854" y="161632"/>
                    <a:pt x="146236" y="159284"/>
                  </a:cubicBezTo>
                  <a:cubicBezTo>
                    <a:pt x="148584" y="156902"/>
                    <a:pt x="150052" y="153640"/>
                    <a:pt x="150052" y="150052"/>
                  </a:cubicBezTo>
                  <a:lnTo>
                    <a:pt x="150052" y="40417"/>
                  </a:lnTo>
                  <a:lnTo>
                    <a:pt x="143463" y="36437"/>
                  </a:lnTo>
                  <a:cubicBezTo>
                    <a:pt x="143137" y="36600"/>
                    <a:pt x="142811" y="36698"/>
                    <a:pt x="142484" y="36829"/>
                  </a:cubicBezTo>
                  <a:lnTo>
                    <a:pt x="140266" y="45669"/>
                  </a:lnTo>
                  <a:lnTo>
                    <a:pt x="120694" y="45669"/>
                  </a:lnTo>
                  <a:lnTo>
                    <a:pt x="118476" y="36829"/>
                  </a:lnTo>
                  <a:cubicBezTo>
                    <a:pt x="118150" y="36698"/>
                    <a:pt x="117824" y="36600"/>
                    <a:pt x="117498" y="36437"/>
                  </a:cubicBezTo>
                  <a:lnTo>
                    <a:pt x="109734" y="41134"/>
                  </a:lnTo>
                  <a:lnTo>
                    <a:pt x="95871" y="27271"/>
                  </a:lnTo>
                  <a:lnTo>
                    <a:pt x="100568" y="19508"/>
                  </a:lnTo>
                  <a:cubicBezTo>
                    <a:pt x="100405" y="19181"/>
                    <a:pt x="100307" y="18855"/>
                    <a:pt x="100176" y="18529"/>
                  </a:cubicBezTo>
                  <a:lnTo>
                    <a:pt x="91336" y="16311"/>
                  </a:lnTo>
                  <a:lnTo>
                    <a:pt x="913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1195;p48">
              <a:extLst>
                <a:ext uri="{FF2B5EF4-FFF2-40B4-BE49-F238E27FC236}">
                  <a16:creationId xmlns:a16="http://schemas.microsoft.com/office/drawing/2014/main" id="{05647D11-FD86-EE96-639F-AC0C2DC317BB}"/>
                </a:ext>
              </a:extLst>
            </p:cNvPr>
            <p:cNvSpPr/>
            <p:nvPr/>
          </p:nvSpPr>
          <p:spPr>
            <a:xfrm>
              <a:off x="6075698" y="1066541"/>
              <a:ext cx="1796420" cy="463157"/>
            </a:xfrm>
            <a:custGeom>
              <a:avLst/>
              <a:gdLst/>
              <a:ahLst/>
              <a:cxnLst/>
              <a:rect l="l" t="t" r="r" b="b"/>
              <a:pathLst>
                <a:path w="101221" h="26097" extrusionOk="0">
                  <a:moveTo>
                    <a:pt x="1" y="1"/>
                  </a:moveTo>
                  <a:lnTo>
                    <a:pt x="1" y="26097"/>
                  </a:lnTo>
                  <a:lnTo>
                    <a:pt x="48931" y="26097"/>
                  </a:lnTo>
                  <a:lnTo>
                    <a:pt x="55455" y="19573"/>
                  </a:lnTo>
                  <a:lnTo>
                    <a:pt x="91336" y="19573"/>
                  </a:lnTo>
                  <a:lnTo>
                    <a:pt x="91336" y="16311"/>
                  </a:lnTo>
                  <a:lnTo>
                    <a:pt x="100176" y="14093"/>
                  </a:lnTo>
                  <a:cubicBezTo>
                    <a:pt x="100307" y="13767"/>
                    <a:pt x="100405" y="13440"/>
                    <a:pt x="100568" y="13114"/>
                  </a:cubicBezTo>
                  <a:lnTo>
                    <a:pt x="95871" y="5351"/>
                  </a:lnTo>
                  <a:lnTo>
                    <a:pt x="101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96;p48">
              <a:extLst>
                <a:ext uri="{FF2B5EF4-FFF2-40B4-BE49-F238E27FC236}">
                  <a16:creationId xmlns:a16="http://schemas.microsoft.com/office/drawing/2014/main" id="{760F7366-8BBA-49E5-FAA5-30A8477269C8}"/>
                </a:ext>
              </a:extLst>
            </p:cNvPr>
            <p:cNvSpPr/>
            <p:nvPr/>
          </p:nvSpPr>
          <p:spPr>
            <a:xfrm>
              <a:off x="8044038" y="1182326"/>
              <a:ext cx="694726" cy="694726"/>
            </a:xfrm>
            <a:custGeom>
              <a:avLst/>
              <a:gdLst/>
              <a:ahLst/>
              <a:cxnLst/>
              <a:rect l="l" t="t" r="r" b="b"/>
              <a:pathLst>
                <a:path w="39145" h="39145" extrusionOk="0">
                  <a:moveTo>
                    <a:pt x="19572" y="13049"/>
                  </a:moveTo>
                  <a:cubicBezTo>
                    <a:pt x="23161" y="13049"/>
                    <a:pt x="26096" y="15985"/>
                    <a:pt x="26096" y="19573"/>
                  </a:cubicBezTo>
                  <a:cubicBezTo>
                    <a:pt x="26096" y="23161"/>
                    <a:pt x="23161" y="26097"/>
                    <a:pt x="19572" y="26097"/>
                  </a:cubicBezTo>
                  <a:cubicBezTo>
                    <a:pt x="15984" y="26097"/>
                    <a:pt x="13048" y="23161"/>
                    <a:pt x="13048" y="19573"/>
                  </a:cubicBezTo>
                  <a:cubicBezTo>
                    <a:pt x="13048" y="15985"/>
                    <a:pt x="15984" y="13049"/>
                    <a:pt x="19572" y="13049"/>
                  </a:cubicBezTo>
                  <a:close/>
                  <a:moveTo>
                    <a:pt x="19572" y="1"/>
                  </a:moveTo>
                  <a:cubicBezTo>
                    <a:pt x="8775" y="1"/>
                    <a:pt x="0" y="8776"/>
                    <a:pt x="0" y="19573"/>
                  </a:cubicBezTo>
                  <a:cubicBezTo>
                    <a:pt x="0" y="30370"/>
                    <a:pt x="8775" y="39145"/>
                    <a:pt x="19572" y="39145"/>
                  </a:cubicBezTo>
                  <a:cubicBezTo>
                    <a:pt x="30369" y="39145"/>
                    <a:pt x="39144" y="30370"/>
                    <a:pt x="39144" y="19573"/>
                  </a:cubicBezTo>
                  <a:cubicBezTo>
                    <a:pt x="39144" y="8776"/>
                    <a:pt x="30369" y="1"/>
                    <a:pt x="195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97;p48">
              <a:extLst>
                <a:ext uri="{FF2B5EF4-FFF2-40B4-BE49-F238E27FC236}">
                  <a16:creationId xmlns:a16="http://schemas.microsoft.com/office/drawing/2014/main" id="{BD10536A-A09A-5969-6CC9-A046C9032EF0}"/>
                </a:ext>
              </a:extLst>
            </p:cNvPr>
            <p:cNvSpPr/>
            <p:nvPr/>
          </p:nvSpPr>
          <p:spPr>
            <a:xfrm>
              <a:off x="7696684" y="834972"/>
              <a:ext cx="1389434" cy="1389434"/>
            </a:xfrm>
            <a:custGeom>
              <a:avLst/>
              <a:gdLst/>
              <a:ahLst/>
              <a:cxnLst/>
              <a:rect l="l" t="t" r="r" b="b"/>
              <a:pathLst>
                <a:path w="78289" h="78289" extrusionOk="0">
                  <a:moveTo>
                    <a:pt x="39144" y="19573"/>
                  </a:moveTo>
                  <a:cubicBezTo>
                    <a:pt x="49941" y="19573"/>
                    <a:pt x="58716" y="28348"/>
                    <a:pt x="58716" y="39145"/>
                  </a:cubicBezTo>
                  <a:cubicBezTo>
                    <a:pt x="58716" y="49942"/>
                    <a:pt x="49941" y="58717"/>
                    <a:pt x="39144" y="58717"/>
                  </a:cubicBezTo>
                  <a:cubicBezTo>
                    <a:pt x="28347" y="58717"/>
                    <a:pt x="19572" y="49942"/>
                    <a:pt x="19572" y="39145"/>
                  </a:cubicBezTo>
                  <a:cubicBezTo>
                    <a:pt x="19572" y="28348"/>
                    <a:pt x="28347" y="19573"/>
                    <a:pt x="39144" y="19573"/>
                  </a:cubicBezTo>
                  <a:close/>
                  <a:moveTo>
                    <a:pt x="29358" y="1"/>
                  </a:moveTo>
                  <a:lnTo>
                    <a:pt x="27140" y="8841"/>
                  </a:lnTo>
                  <a:cubicBezTo>
                    <a:pt x="26814" y="8971"/>
                    <a:pt x="26488" y="9069"/>
                    <a:pt x="26162" y="9232"/>
                  </a:cubicBezTo>
                  <a:lnTo>
                    <a:pt x="18398" y="4535"/>
                  </a:lnTo>
                  <a:lnTo>
                    <a:pt x="9884" y="13049"/>
                  </a:lnTo>
                  <a:lnTo>
                    <a:pt x="4535" y="18399"/>
                  </a:lnTo>
                  <a:lnTo>
                    <a:pt x="9232" y="26162"/>
                  </a:lnTo>
                  <a:cubicBezTo>
                    <a:pt x="9069" y="26488"/>
                    <a:pt x="8971" y="26815"/>
                    <a:pt x="8840" y="27141"/>
                  </a:cubicBezTo>
                  <a:lnTo>
                    <a:pt x="0" y="29359"/>
                  </a:lnTo>
                  <a:lnTo>
                    <a:pt x="0" y="32621"/>
                  </a:lnTo>
                  <a:lnTo>
                    <a:pt x="0" y="48931"/>
                  </a:lnTo>
                  <a:lnTo>
                    <a:pt x="8840" y="51149"/>
                  </a:lnTo>
                  <a:cubicBezTo>
                    <a:pt x="8971" y="51475"/>
                    <a:pt x="9069" y="51801"/>
                    <a:pt x="9232" y="52128"/>
                  </a:cubicBezTo>
                  <a:lnTo>
                    <a:pt x="4535" y="59891"/>
                  </a:lnTo>
                  <a:lnTo>
                    <a:pt x="18398" y="73754"/>
                  </a:lnTo>
                  <a:lnTo>
                    <a:pt x="26162" y="69057"/>
                  </a:lnTo>
                  <a:cubicBezTo>
                    <a:pt x="26488" y="69220"/>
                    <a:pt x="26814" y="69318"/>
                    <a:pt x="27140" y="69449"/>
                  </a:cubicBezTo>
                  <a:lnTo>
                    <a:pt x="29358" y="78289"/>
                  </a:lnTo>
                  <a:lnTo>
                    <a:pt x="48930" y="78289"/>
                  </a:lnTo>
                  <a:lnTo>
                    <a:pt x="51148" y="69449"/>
                  </a:lnTo>
                  <a:cubicBezTo>
                    <a:pt x="51475" y="69318"/>
                    <a:pt x="51801" y="69220"/>
                    <a:pt x="52127" y="69057"/>
                  </a:cubicBezTo>
                  <a:lnTo>
                    <a:pt x="58716" y="73037"/>
                  </a:lnTo>
                  <a:lnTo>
                    <a:pt x="59891" y="73754"/>
                  </a:lnTo>
                  <a:lnTo>
                    <a:pt x="73754" y="59891"/>
                  </a:lnTo>
                  <a:lnTo>
                    <a:pt x="69057" y="52128"/>
                  </a:lnTo>
                  <a:cubicBezTo>
                    <a:pt x="69220" y="51801"/>
                    <a:pt x="69318" y="51475"/>
                    <a:pt x="69448" y="51149"/>
                  </a:cubicBezTo>
                  <a:lnTo>
                    <a:pt x="78288" y="48931"/>
                  </a:lnTo>
                  <a:lnTo>
                    <a:pt x="78288" y="29359"/>
                  </a:lnTo>
                  <a:lnTo>
                    <a:pt x="69448" y="27141"/>
                  </a:lnTo>
                  <a:cubicBezTo>
                    <a:pt x="69318" y="26815"/>
                    <a:pt x="69220" y="26488"/>
                    <a:pt x="69057" y="26162"/>
                  </a:cubicBezTo>
                  <a:lnTo>
                    <a:pt x="73754" y="18399"/>
                  </a:lnTo>
                  <a:lnTo>
                    <a:pt x="59891" y="4535"/>
                  </a:lnTo>
                  <a:lnTo>
                    <a:pt x="52127" y="9232"/>
                  </a:lnTo>
                  <a:cubicBezTo>
                    <a:pt x="51801" y="9069"/>
                    <a:pt x="51475" y="8971"/>
                    <a:pt x="51148" y="8841"/>
                  </a:cubicBezTo>
                  <a:lnTo>
                    <a:pt x="489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98;p48">
              <a:extLst>
                <a:ext uri="{FF2B5EF4-FFF2-40B4-BE49-F238E27FC236}">
                  <a16:creationId xmlns:a16="http://schemas.microsoft.com/office/drawing/2014/main" id="{F85B4F81-E845-3697-992D-E2B888B49C44}"/>
                </a:ext>
              </a:extLst>
            </p:cNvPr>
            <p:cNvSpPr/>
            <p:nvPr/>
          </p:nvSpPr>
          <p:spPr>
            <a:xfrm>
              <a:off x="6249375" y="1240218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99;p48">
              <a:extLst>
                <a:ext uri="{FF2B5EF4-FFF2-40B4-BE49-F238E27FC236}">
                  <a16:creationId xmlns:a16="http://schemas.microsoft.com/office/drawing/2014/main" id="{58EF0692-6DB3-CDE5-C80A-53E3D23447AE}"/>
                </a:ext>
              </a:extLst>
            </p:cNvPr>
            <p:cNvSpPr/>
            <p:nvPr/>
          </p:nvSpPr>
          <p:spPr>
            <a:xfrm>
              <a:off x="6712514" y="1240218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00;p48">
              <a:extLst>
                <a:ext uri="{FF2B5EF4-FFF2-40B4-BE49-F238E27FC236}">
                  <a16:creationId xmlns:a16="http://schemas.microsoft.com/office/drawing/2014/main" id="{9554B12A-7235-8C5C-4830-C3B6851EC5E0}"/>
                </a:ext>
              </a:extLst>
            </p:cNvPr>
            <p:cNvSpPr/>
            <p:nvPr/>
          </p:nvSpPr>
          <p:spPr>
            <a:xfrm>
              <a:off x="6480945" y="1240218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01;p48">
              <a:extLst>
                <a:ext uri="{FF2B5EF4-FFF2-40B4-BE49-F238E27FC236}">
                  <a16:creationId xmlns:a16="http://schemas.microsoft.com/office/drawing/2014/main" id="{C183528E-B7CE-0D66-7F0D-D23EBE2B7E28}"/>
                </a:ext>
              </a:extLst>
            </p:cNvPr>
            <p:cNvSpPr/>
            <p:nvPr/>
          </p:nvSpPr>
          <p:spPr>
            <a:xfrm>
              <a:off x="7986146" y="1124433"/>
              <a:ext cx="810511" cy="810511"/>
            </a:xfrm>
            <a:custGeom>
              <a:avLst/>
              <a:gdLst/>
              <a:ahLst/>
              <a:cxnLst/>
              <a:rect l="l" t="t" r="r" b="b"/>
              <a:pathLst>
                <a:path w="45669" h="45669" extrusionOk="0">
                  <a:moveTo>
                    <a:pt x="22834" y="6525"/>
                  </a:moveTo>
                  <a:cubicBezTo>
                    <a:pt x="31837" y="6525"/>
                    <a:pt x="39144" y="13832"/>
                    <a:pt x="39144" y="22835"/>
                  </a:cubicBezTo>
                  <a:cubicBezTo>
                    <a:pt x="39144" y="31838"/>
                    <a:pt x="31837" y="39145"/>
                    <a:pt x="22834" y="39145"/>
                  </a:cubicBezTo>
                  <a:cubicBezTo>
                    <a:pt x="13831" y="39145"/>
                    <a:pt x="6524" y="31838"/>
                    <a:pt x="6524" y="22835"/>
                  </a:cubicBezTo>
                  <a:cubicBezTo>
                    <a:pt x="6524" y="13832"/>
                    <a:pt x="13831" y="6525"/>
                    <a:pt x="22834" y="6525"/>
                  </a:cubicBezTo>
                  <a:close/>
                  <a:moveTo>
                    <a:pt x="22834" y="1"/>
                  </a:moveTo>
                  <a:cubicBezTo>
                    <a:pt x="10243" y="1"/>
                    <a:pt x="0" y="10244"/>
                    <a:pt x="0" y="22835"/>
                  </a:cubicBezTo>
                  <a:cubicBezTo>
                    <a:pt x="0" y="35426"/>
                    <a:pt x="10243" y="45669"/>
                    <a:pt x="22834" y="45669"/>
                  </a:cubicBezTo>
                  <a:cubicBezTo>
                    <a:pt x="35426" y="45669"/>
                    <a:pt x="45668" y="35426"/>
                    <a:pt x="45668" y="22835"/>
                  </a:cubicBezTo>
                  <a:cubicBezTo>
                    <a:pt x="45668" y="10244"/>
                    <a:pt x="35426" y="1"/>
                    <a:pt x="22834" y="1"/>
                  </a:cubicBezTo>
                  <a:close/>
                </a:path>
              </a:pathLst>
            </a:custGeom>
            <a:solidFill>
              <a:srgbClr val="26A2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02;p48">
              <a:extLst>
                <a:ext uri="{FF2B5EF4-FFF2-40B4-BE49-F238E27FC236}">
                  <a16:creationId xmlns:a16="http://schemas.microsoft.com/office/drawing/2014/main" id="{8DE7EB7B-3538-7282-D242-95937D711DE6}"/>
                </a:ext>
              </a:extLst>
            </p:cNvPr>
            <p:cNvSpPr/>
            <p:nvPr/>
          </p:nvSpPr>
          <p:spPr>
            <a:xfrm>
              <a:off x="6249375" y="2745419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03;p48">
              <a:extLst>
                <a:ext uri="{FF2B5EF4-FFF2-40B4-BE49-F238E27FC236}">
                  <a16:creationId xmlns:a16="http://schemas.microsoft.com/office/drawing/2014/main" id="{4E0128CF-FEA3-0E83-99C1-51B73DE01EF7}"/>
                </a:ext>
              </a:extLst>
            </p:cNvPr>
            <p:cNvSpPr/>
            <p:nvPr/>
          </p:nvSpPr>
          <p:spPr>
            <a:xfrm>
              <a:off x="6017806" y="2745419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04;p48">
              <a:extLst>
                <a:ext uri="{FF2B5EF4-FFF2-40B4-BE49-F238E27FC236}">
                  <a16:creationId xmlns:a16="http://schemas.microsoft.com/office/drawing/2014/main" id="{D780B909-FEC2-87F0-8006-C05295D822B2}"/>
                </a:ext>
              </a:extLst>
            </p:cNvPr>
            <p:cNvSpPr/>
            <p:nvPr/>
          </p:nvSpPr>
          <p:spPr>
            <a:xfrm>
              <a:off x="5786237" y="2745419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05;p48">
              <a:extLst>
                <a:ext uri="{FF2B5EF4-FFF2-40B4-BE49-F238E27FC236}">
                  <a16:creationId xmlns:a16="http://schemas.microsoft.com/office/drawing/2014/main" id="{4C4560E0-77AA-9D7F-573E-47D004758096}"/>
                </a:ext>
              </a:extLst>
            </p:cNvPr>
            <p:cNvSpPr/>
            <p:nvPr/>
          </p:nvSpPr>
          <p:spPr>
            <a:xfrm>
              <a:off x="6210597" y="1714946"/>
              <a:ext cx="362990" cy="439996"/>
            </a:xfrm>
            <a:custGeom>
              <a:avLst/>
              <a:gdLst/>
              <a:ahLst/>
              <a:cxnLst/>
              <a:rect l="l" t="t" r="r" b="b"/>
              <a:pathLst>
                <a:path w="20453" h="24792" extrusionOk="0">
                  <a:moveTo>
                    <a:pt x="16539" y="0"/>
                  </a:moveTo>
                  <a:lnTo>
                    <a:pt x="0" y="12396"/>
                  </a:lnTo>
                  <a:lnTo>
                    <a:pt x="16539" y="24791"/>
                  </a:lnTo>
                  <a:lnTo>
                    <a:pt x="20453" y="19572"/>
                  </a:lnTo>
                  <a:lnTo>
                    <a:pt x="10895" y="12396"/>
                  </a:lnTo>
                  <a:lnTo>
                    <a:pt x="20453" y="5219"/>
                  </a:lnTo>
                  <a:lnTo>
                    <a:pt x="16539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06;p48">
              <a:extLst>
                <a:ext uri="{FF2B5EF4-FFF2-40B4-BE49-F238E27FC236}">
                  <a16:creationId xmlns:a16="http://schemas.microsoft.com/office/drawing/2014/main" id="{8C754302-637E-9AF2-AC4E-D29CA2202779}"/>
                </a:ext>
              </a:extLst>
            </p:cNvPr>
            <p:cNvSpPr/>
            <p:nvPr/>
          </p:nvSpPr>
          <p:spPr>
            <a:xfrm>
              <a:off x="7719844" y="2178085"/>
              <a:ext cx="362990" cy="439996"/>
            </a:xfrm>
            <a:custGeom>
              <a:avLst/>
              <a:gdLst/>
              <a:ahLst/>
              <a:cxnLst/>
              <a:rect l="l" t="t" r="r" b="b"/>
              <a:pathLst>
                <a:path w="20453" h="24792" extrusionOk="0">
                  <a:moveTo>
                    <a:pt x="3915" y="0"/>
                  </a:moveTo>
                  <a:lnTo>
                    <a:pt x="0" y="5219"/>
                  </a:lnTo>
                  <a:lnTo>
                    <a:pt x="9558" y="12396"/>
                  </a:lnTo>
                  <a:lnTo>
                    <a:pt x="0" y="19572"/>
                  </a:lnTo>
                  <a:lnTo>
                    <a:pt x="3915" y="24791"/>
                  </a:lnTo>
                  <a:lnTo>
                    <a:pt x="20453" y="12396"/>
                  </a:lnTo>
                  <a:lnTo>
                    <a:pt x="3915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07;p48">
              <a:extLst>
                <a:ext uri="{FF2B5EF4-FFF2-40B4-BE49-F238E27FC236}">
                  <a16:creationId xmlns:a16="http://schemas.microsoft.com/office/drawing/2014/main" id="{2E0DE48A-19E8-7B2D-E0C2-EFFB1B260BBF}"/>
                </a:ext>
              </a:extLst>
            </p:cNvPr>
            <p:cNvSpPr/>
            <p:nvPr/>
          </p:nvSpPr>
          <p:spPr>
            <a:xfrm>
              <a:off x="6712514" y="1703357"/>
              <a:ext cx="810511" cy="115802"/>
            </a:xfrm>
            <a:custGeom>
              <a:avLst/>
              <a:gdLst/>
              <a:ahLst/>
              <a:cxnLst/>
              <a:rect l="l" t="t" r="r" b="b"/>
              <a:pathLst>
                <a:path w="45669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45669" y="6525"/>
                  </a:lnTo>
                  <a:lnTo>
                    <a:pt x="45669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08;p48">
              <a:extLst>
                <a:ext uri="{FF2B5EF4-FFF2-40B4-BE49-F238E27FC236}">
                  <a16:creationId xmlns:a16="http://schemas.microsoft.com/office/drawing/2014/main" id="{4471CF2B-11CD-A39C-B260-6E8F19CB5612}"/>
                </a:ext>
              </a:extLst>
            </p:cNvPr>
            <p:cNvSpPr/>
            <p:nvPr/>
          </p:nvSpPr>
          <p:spPr>
            <a:xfrm>
              <a:off x="6712514" y="1934926"/>
              <a:ext cx="810511" cy="115802"/>
            </a:xfrm>
            <a:custGeom>
              <a:avLst/>
              <a:gdLst/>
              <a:ahLst/>
              <a:cxnLst/>
              <a:rect l="l" t="t" r="r" b="b"/>
              <a:pathLst>
                <a:path w="45669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45669" y="6525"/>
                  </a:lnTo>
                  <a:lnTo>
                    <a:pt x="45669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09;p48">
              <a:extLst>
                <a:ext uri="{FF2B5EF4-FFF2-40B4-BE49-F238E27FC236}">
                  <a16:creationId xmlns:a16="http://schemas.microsoft.com/office/drawing/2014/main" id="{567AEC9B-A8E8-018D-C260-E0946EFE97D6}"/>
                </a:ext>
              </a:extLst>
            </p:cNvPr>
            <p:cNvSpPr/>
            <p:nvPr/>
          </p:nvSpPr>
          <p:spPr>
            <a:xfrm>
              <a:off x="6712514" y="2166496"/>
              <a:ext cx="810511" cy="115802"/>
            </a:xfrm>
            <a:custGeom>
              <a:avLst/>
              <a:gdLst/>
              <a:ahLst/>
              <a:cxnLst/>
              <a:rect l="l" t="t" r="r" b="b"/>
              <a:pathLst>
                <a:path w="45669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45669" y="6525"/>
                  </a:lnTo>
                  <a:lnTo>
                    <a:pt x="45669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10;p48">
              <a:extLst>
                <a:ext uri="{FF2B5EF4-FFF2-40B4-BE49-F238E27FC236}">
                  <a16:creationId xmlns:a16="http://schemas.microsoft.com/office/drawing/2014/main" id="{31C404D4-06DB-A935-DB99-A97C047C4FB7}"/>
                </a:ext>
              </a:extLst>
            </p:cNvPr>
            <p:cNvSpPr/>
            <p:nvPr/>
          </p:nvSpPr>
          <p:spPr>
            <a:xfrm>
              <a:off x="6712514" y="2398065"/>
              <a:ext cx="578941" cy="115802"/>
            </a:xfrm>
            <a:custGeom>
              <a:avLst/>
              <a:gdLst/>
              <a:ahLst/>
              <a:cxnLst/>
              <a:rect l="l" t="t" r="r" b="b"/>
              <a:pathLst>
                <a:path w="32621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32621" y="6525"/>
                  </a:lnTo>
                  <a:lnTo>
                    <a:pt x="32621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11;p48">
              <a:extLst>
                <a:ext uri="{FF2B5EF4-FFF2-40B4-BE49-F238E27FC236}">
                  <a16:creationId xmlns:a16="http://schemas.microsoft.com/office/drawing/2014/main" id="{9A437B69-3544-D5B9-03AD-3A60415EDCF4}"/>
                </a:ext>
              </a:extLst>
            </p:cNvPr>
            <p:cNvSpPr/>
            <p:nvPr/>
          </p:nvSpPr>
          <p:spPr>
            <a:xfrm>
              <a:off x="7407222" y="2398065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12;p48">
              <a:extLst>
                <a:ext uri="{FF2B5EF4-FFF2-40B4-BE49-F238E27FC236}">
                  <a16:creationId xmlns:a16="http://schemas.microsoft.com/office/drawing/2014/main" id="{20BAB77D-8892-C90D-FB69-2B3B573497AE}"/>
                </a:ext>
              </a:extLst>
            </p:cNvPr>
            <p:cNvSpPr/>
            <p:nvPr/>
          </p:nvSpPr>
          <p:spPr>
            <a:xfrm>
              <a:off x="7138596" y="3337653"/>
              <a:ext cx="474746" cy="668087"/>
            </a:xfrm>
            <a:custGeom>
              <a:avLst/>
              <a:gdLst/>
              <a:ahLst/>
              <a:cxnLst/>
              <a:rect l="l" t="t" r="r" b="b"/>
              <a:pathLst>
                <a:path w="26750" h="37644" extrusionOk="0">
                  <a:moveTo>
                    <a:pt x="4176" y="1"/>
                  </a:moveTo>
                  <a:lnTo>
                    <a:pt x="1" y="5024"/>
                  </a:lnTo>
                  <a:lnTo>
                    <a:pt x="16572" y="18822"/>
                  </a:lnTo>
                  <a:lnTo>
                    <a:pt x="1" y="32621"/>
                  </a:lnTo>
                  <a:lnTo>
                    <a:pt x="4176" y="37644"/>
                  </a:lnTo>
                  <a:lnTo>
                    <a:pt x="26749" y="18822"/>
                  </a:lnTo>
                  <a:lnTo>
                    <a:pt x="4176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13;p48">
              <a:extLst>
                <a:ext uri="{FF2B5EF4-FFF2-40B4-BE49-F238E27FC236}">
                  <a16:creationId xmlns:a16="http://schemas.microsoft.com/office/drawing/2014/main" id="{2D71235B-CD26-21CB-A954-DCC454D0C0BB}"/>
                </a:ext>
              </a:extLst>
            </p:cNvPr>
            <p:cNvSpPr/>
            <p:nvPr/>
          </p:nvSpPr>
          <p:spPr>
            <a:xfrm>
              <a:off x="6274861" y="3337653"/>
              <a:ext cx="474728" cy="668087"/>
            </a:xfrm>
            <a:custGeom>
              <a:avLst/>
              <a:gdLst/>
              <a:ahLst/>
              <a:cxnLst/>
              <a:rect l="l" t="t" r="r" b="b"/>
              <a:pathLst>
                <a:path w="26749" h="37644" extrusionOk="0">
                  <a:moveTo>
                    <a:pt x="22573" y="1"/>
                  </a:moveTo>
                  <a:lnTo>
                    <a:pt x="0" y="18822"/>
                  </a:lnTo>
                  <a:lnTo>
                    <a:pt x="22573" y="37644"/>
                  </a:lnTo>
                  <a:lnTo>
                    <a:pt x="26748" y="32621"/>
                  </a:lnTo>
                  <a:lnTo>
                    <a:pt x="10177" y="18822"/>
                  </a:lnTo>
                  <a:lnTo>
                    <a:pt x="26748" y="5024"/>
                  </a:lnTo>
                  <a:lnTo>
                    <a:pt x="22573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14;p48">
              <a:extLst>
                <a:ext uri="{FF2B5EF4-FFF2-40B4-BE49-F238E27FC236}">
                  <a16:creationId xmlns:a16="http://schemas.microsoft.com/office/drawing/2014/main" id="{A3AB0C70-F7C7-7421-3D23-E6BE0E05D180}"/>
                </a:ext>
              </a:extLst>
            </p:cNvPr>
            <p:cNvSpPr/>
            <p:nvPr/>
          </p:nvSpPr>
          <p:spPr>
            <a:xfrm>
              <a:off x="6771560" y="3194662"/>
              <a:ext cx="343325" cy="954088"/>
            </a:xfrm>
            <a:custGeom>
              <a:avLst/>
              <a:gdLst/>
              <a:ahLst/>
              <a:cxnLst/>
              <a:rect l="l" t="t" r="r" b="b"/>
              <a:pathLst>
                <a:path w="19345" h="53759" extrusionOk="0">
                  <a:moveTo>
                    <a:pt x="13016" y="1"/>
                  </a:moveTo>
                  <a:lnTo>
                    <a:pt x="1" y="52160"/>
                  </a:lnTo>
                  <a:lnTo>
                    <a:pt x="6329" y="53758"/>
                  </a:lnTo>
                  <a:lnTo>
                    <a:pt x="19345" y="1566"/>
                  </a:lnTo>
                  <a:lnTo>
                    <a:pt x="13016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15;p48">
              <a:extLst>
                <a:ext uri="{FF2B5EF4-FFF2-40B4-BE49-F238E27FC236}">
                  <a16:creationId xmlns:a16="http://schemas.microsoft.com/office/drawing/2014/main" id="{0FE2F0D0-93B2-389B-B6BA-709C467E4100}"/>
                </a:ext>
              </a:extLst>
            </p:cNvPr>
            <p:cNvSpPr/>
            <p:nvPr/>
          </p:nvSpPr>
          <p:spPr>
            <a:xfrm>
              <a:off x="5786237" y="3671697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16;p48">
              <a:extLst>
                <a:ext uri="{FF2B5EF4-FFF2-40B4-BE49-F238E27FC236}">
                  <a16:creationId xmlns:a16="http://schemas.microsoft.com/office/drawing/2014/main" id="{E5CAE5E7-A2C4-47B9-F1E2-E5DAEFE98FF1}"/>
                </a:ext>
              </a:extLst>
            </p:cNvPr>
            <p:cNvSpPr/>
            <p:nvPr/>
          </p:nvSpPr>
          <p:spPr>
            <a:xfrm>
              <a:off x="5786237" y="3208558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17;p48">
              <a:extLst>
                <a:ext uri="{FF2B5EF4-FFF2-40B4-BE49-F238E27FC236}">
                  <a16:creationId xmlns:a16="http://schemas.microsoft.com/office/drawing/2014/main" id="{6D535EDB-6CAE-E6C4-4DA6-AADF9215A11A}"/>
                </a:ext>
              </a:extLst>
            </p:cNvPr>
            <p:cNvSpPr/>
            <p:nvPr/>
          </p:nvSpPr>
          <p:spPr>
            <a:xfrm>
              <a:off x="5786237" y="3440127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18;p48">
              <a:extLst>
                <a:ext uri="{FF2B5EF4-FFF2-40B4-BE49-F238E27FC236}">
                  <a16:creationId xmlns:a16="http://schemas.microsoft.com/office/drawing/2014/main" id="{95E7D653-2E01-045F-7D44-F80DE4F86FAD}"/>
                </a:ext>
              </a:extLst>
            </p:cNvPr>
            <p:cNvSpPr/>
            <p:nvPr/>
          </p:nvSpPr>
          <p:spPr>
            <a:xfrm>
              <a:off x="7986146" y="4019051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19;p48">
              <a:extLst>
                <a:ext uri="{FF2B5EF4-FFF2-40B4-BE49-F238E27FC236}">
                  <a16:creationId xmlns:a16="http://schemas.microsoft.com/office/drawing/2014/main" id="{6F821A59-C4AF-B5E9-8021-5CC4742FBD19}"/>
                </a:ext>
              </a:extLst>
            </p:cNvPr>
            <p:cNvSpPr/>
            <p:nvPr/>
          </p:nvSpPr>
          <p:spPr>
            <a:xfrm>
              <a:off x="7986146" y="3555912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20;p48">
              <a:extLst>
                <a:ext uri="{FF2B5EF4-FFF2-40B4-BE49-F238E27FC236}">
                  <a16:creationId xmlns:a16="http://schemas.microsoft.com/office/drawing/2014/main" id="{94CDFA92-5D70-EDDC-D670-6E838A17E639}"/>
                </a:ext>
              </a:extLst>
            </p:cNvPr>
            <p:cNvSpPr/>
            <p:nvPr/>
          </p:nvSpPr>
          <p:spPr>
            <a:xfrm>
              <a:off x="7986146" y="3787481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21;p48">
              <a:extLst>
                <a:ext uri="{FF2B5EF4-FFF2-40B4-BE49-F238E27FC236}">
                  <a16:creationId xmlns:a16="http://schemas.microsoft.com/office/drawing/2014/main" id="{ABF5CBB8-B83F-3B35-8EF2-EE08C107565C}"/>
                </a:ext>
              </a:extLst>
            </p:cNvPr>
            <p:cNvSpPr/>
            <p:nvPr/>
          </p:nvSpPr>
          <p:spPr>
            <a:xfrm>
              <a:off x="8449284" y="3787481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22;p48">
              <a:extLst>
                <a:ext uri="{FF2B5EF4-FFF2-40B4-BE49-F238E27FC236}">
                  <a16:creationId xmlns:a16="http://schemas.microsoft.com/office/drawing/2014/main" id="{A9AADF75-0E7A-F860-C8B2-2CD109DF50C2}"/>
                </a:ext>
              </a:extLst>
            </p:cNvPr>
            <p:cNvSpPr/>
            <p:nvPr/>
          </p:nvSpPr>
          <p:spPr>
            <a:xfrm>
              <a:off x="8449284" y="4019051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223;p48">
              <a:extLst>
                <a:ext uri="{FF2B5EF4-FFF2-40B4-BE49-F238E27FC236}">
                  <a16:creationId xmlns:a16="http://schemas.microsoft.com/office/drawing/2014/main" id="{5CB3DDB7-1660-FC7A-9431-5764022F39DF}"/>
                </a:ext>
              </a:extLst>
            </p:cNvPr>
            <p:cNvSpPr/>
            <p:nvPr/>
          </p:nvSpPr>
          <p:spPr>
            <a:xfrm>
              <a:off x="8449284" y="3555912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8445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8">
            <a:extLst>
              <a:ext uri="{FF2B5EF4-FFF2-40B4-BE49-F238E27FC236}">
                <a16:creationId xmlns:a16="http://schemas.microsoft.com/office/drawing/2014/main" id="{0E0DC8F1-AD7F-B8BC-E275-546A4B3AE796}"/>
              </a:ext>
            </a:extLst>
          </p:cNvPr>
          <p:cNvSpPr/>
          <p:nvPr/>
        </p:nvSpPr>
        <p:spPr>
          <a:xfrm>
            <a:off x="9627800" y="883920"/>
            <a:ext cx="233172" cy="233172"/>
          </a:xfrm>
          <a:prstGeom prst="diamond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5" name="Shape 18">
            <a:extLst>
              <a:ext uri="{FF2B5EF4-FFF2-40B4-BE49-F238E27FC236}">
                <a16:creationId xmlns:a16="http://schemas.microsoft.com/office/drawing/2014/main" id="{CEED7E09-1DC9-91F8-2090-A036FF067AC7}"/>
              </a:ext>
            </a:extLst>
          </p:cNvPr>
          <p:cNvSpPr/>
          <p:nvPr/>
        </p:nvSpPr>
        <p:spPr>
          <a:xfrm>
            <a:off x="9627800" y="883920"/>
            <a:ext cx="233172" cy="233172"/>
          </a:xfrm>
          <a:prstGeom prst="diamond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6" name="Shape 19">
            <a:extLst>
              <a:ext uri="{FF2B5EF4-FFF2-40B4-BE49-F238E27FC236}">
                <a16:creationId xmlns:a16="http://schemas.microsoft.com/office/drawing/2014/main" id="{B96126AB-8C7D-62AF-0D41-51910F87FC68}"/>
              </a:ext>
            </a:extLst>
          </p:cNvPr>
          <p:cNvSpPr/>
          <p:nvPr/>
        </p:nvSpPr>
        <p:spPr>
          <a:xfrm>
            <a:off x="9778677" y="1007365"/>
            <a:ext cx="163220" cy="163220"/>
          </a:xfrm>
          <a:prstGeom prst="diamond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</p:sp>
      <p:sp>
        <p:nvSpPr>
          <p:cNvPr id="7" name="Shape 20">
            <a:extLst>
              <a:ext uri="{FF2B5EF4-FFF2-40B4-BE49-F238E27FC236}">
                <a16:creationId xmlns:a16="http://schemas.microsoft.com/office/drawing/2014/main" id="{EDF17AEC-146D-C674-206C-3B5729798ACE}"/>
              </a:ext>
            </a:extLst>
          </p:cNvPr>
          <p:cNvSpPr/>
          <p:nvPr/>
        </p:nvSpPr>
        <p:spPr>
          <a:xfrm>
            <a:off x="9545505" y="1007365"/>
            <a:ext cx="163220" cy="163220"/>
          </a:xfrm>
          <a:prstGeom prst="diamond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fr-FR" sz="1050"/>
          </a:p>
        </p:txBody>
      </p:sp>
      <p:sp>
        <p:nvSpPr>
          <p:cNvPr id="8" name="Titre 8">
            <a:extLst>
              <a:ext uri="{FF2B5EF4-FFF2-40B4-BE49-F238E27FC236}">
                <a16:creationId xmlns:a16="http://schemas.microsoft.com/office/drawing/2014/main" id="{EA006586-BEA8-714E-E67C-D9C17BD43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100" y="160725"/>
            <a:ext cx="7704000" cy="572700"/>
          </a:xfrm>
        </p:spPr>
        <p:txBody>
          <a:bodyPr/>
          <a:lstStyle/>
          <a:p>
            <a:r>
              <a:rPr lang="fr-FR" sz="2800" b="1" dirty="0">
                <a:solidFill>
                  <a:schemeClr val="tx1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 DE LA BASE DE DONNÉES</a:t>
            </a:r>
            <a:br>
              <a:rPr lang="fr-FR" sz="2800" b="1" dirty="0">
                <a:solidFill>
                  <a:schemeClr val="tx1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fr-FR" dirty="0">
              <a:solidFill>
                <a:schemeClr val="tx1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51115E0B-5034-E6FB-0E39-9D93EC4D8F69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733425"/>
            <a:ext cx="8208100" cy="3076625"/>
          </a:xfrm>
        </p:spPr>
        <p:txBody>
          <a:bodyPr/>
          <a:lstStyle/>
          <a:p>
            <a:endParaRPr lang="fr-FR" dirty="0"/>
          </a:p>
          <a:p>
            <a:pPr lvl="1"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Utilisateurs</a:t>
            </a:r>
            <a:r>
              <a:rPr lang="fr-FR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: Comptes et mots de passe.</a:t>
            </a:r>
          </a:p>
          <a:p>
            <a:pPr lvl="1"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Profils</a:t>
            </a:r>
            <a:r>
              <a:rPr lang="fr-FR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: Détails des candidats et des entreprises.</a:t>
            </a:r>
          </a:p>
          <a:p>
            <a:pPr lvl="1"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Offres &amp; Candidatures</a:t>
            </a:r>
            <a:r>
              <a:rPr lang="fr-FR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: Liens entre les postes et les postulants.</a:t>
            </a:r>
          </a:p>
          <a:p>
            <a:pPr lvl="1"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Entretiens</a:t>
            </a:r>
            <a:r>
              <a:rPr lang="fr-FR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: Dates et heures des rendez-vous.</a:t>
            </a:r>
          </a:p>
          <a:p>
            <a:pPr marL="139700" indent="0">
              <a:buNone/>
            </a:pP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4B99234-C0D5-8328-2826-26224543B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285" y="2571750"/>
            <a:ext cx="2298391" cy="2377646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12AFC7CA-E5BE-C66A-E416-B42D4F605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371475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238;p20" descr="image.png">
            <a:extLst>
              <a:ext uri="{FF2B5EF4-FFF2-40B4-BE49-F238E27FC236}">
                <a16:creationId xmlns:a16="http://schemas.microsoft.com/office/drawing/2014/main" id="{2901DA4D-1F1E-C4B5-6E85-92BD0D173F7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6064" y="1020216"/>
            <a:ext cx="2523687" cy="1551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239;p20" descr="image.png">
            <a:extLst>
              <a:ext uri="{FF2B5EF4-FFF2-40B4-BE49-F238E27FC236}">
                <a16:creationId xmlns:a16="http://schemas.microsoft.com/office/drawing/2014/main" id="{942BFB7B-DC39-8B28-791E-E0CD0B5084E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51201" y="1020217"/>
            <a:ext cx="2540831" cy="157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240;p20" descr="image.png">
            <a:extLst>
              <a:ext uri="{FF2B5EF4-FFF2-40B4-BE49-F238E27FC236}">
                <a16:creationId xmlns:a16="http://schemas.microsoft.com/office/drawing/2014/main" id="{286CA1ED-0D4D-FE8E-279E-B0371391908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70626" y="1020217"/>
            <a:ext cx="2547863" cy="1565821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43" name="Google Shape;241;p20" descr="image.png">
            <a:extLst>
              <a:ext uri="{FF2B5EF4-FFF2-40B4-BE49-F238E27FC236}">
                <a16:creationId xmlns:a16="http://schemas.microsoft.com/office/drawing/2014/main" id="{85EA0C63-3764-3979-1C31-1CC4D84F53C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6064" y="2738959"/>
            <a:ext cx="2516543" cy="1805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242;p20" descr="image.png">
            <a:extLst>
              <a:ext uri="{FF2B5EF4-FFF2-40B4-BE49-F238E27FC236}">
                <a16:creationId xmlns:a16="http://schemas.microsoft.com/office/drawing/2014/main" id="{705AA486-8867-1002-2182-114B7B4D7BC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51201" y="2784543"/>
            <a:ext cx="2547974" cy="178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243;p20" descr="image.png">
            <a:extLst>
              <a:ext uri="{FF2B5EF4-FFF2-40B4-BE49-F238E27FC236}">
                <a16:creationId xmlns:a16="http://schemas.microsoft.com/office/drawing/2014/main" id="{858669FD-0561-8FA4-A07C-1C643FE68F6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70626" y="2784544"/>
            <a:ext cx="2547863" cy="1781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244;p20" descr="image.png">
            <a:extLst>
              <a:ext uri="{FF2B5EF4-FFF2-40B4-BE49-F238E27FC236}">
                <a16:creationId xmlns:a16="http://schemas.microsoft.com/office/drawing/2014/main" id="{660A4C6F-97E4-4C1E-3133-ED484DC999F3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8976" y="4910403"/>
            <a:ext cx="7986713" cy="235744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247;p20">
            <a:extLst>
              <a:ext uri="{FF2B5EF4-FFF2-40B4-BE49-F238E27FC236}">
                <a16:creationId xmlns:a16="http://schemas.microsoft.com/office/drawing/2014/main" id="{F0728FBE-3D87-C20E-267C-0B2231D3AA8D}"/>
              </a:ext>
            </a:extLst>
          </p:cNvPr>
          <p:cNvSpPr txBox="1"/>
          <p:nvPr/>
        </p:nvSpPr>
        <p:spPr>
          <a:xfrm>
            <a:off x="710482" y="1299159"/>
            <a:ext cx="230020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PHP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Google Shape;248;p20">
            <a:extLst>
              <a:ext uri="{FF2B5EF4-FFF2-40B4-BE49-F238E27FC236}">
                <a16:creationId xmlns:a16="http://schemas.microsoft.com/office/drawing/2014/main" id="{DBA4C863-747A-6954-6E23-3B8C876F7D21}"/>
              </a:ext>
            </a:extLst>
          </p:cNvPr>
          <p:cNvSpPr txBox="1"/>
          <p:nvPr/>
        </p:nvSpPr>
        <p:spPr>
          <a:xfrm>
            <a:off x="641422" y="1403010"/>
            <a:ext cx="231450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pen Sans"/>
              </a:rPr>
              <a:t>Logique serveur principale et routage des requêtes PDO</a:t>
            </a: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pen Sans"/>
              </a:rPr>
              <a:t>.</a:t>
            </a:r>
            <a:endParaRPr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Google Shape;249;p20">
            <a:extLst>
              <a:ext uri="{FF2B5EF4-FFF2-40B4-BE49-F238E27FC236}">
                <a16:creationId xmlns:a16="http://schemas.microsoft.com/office/drawing/2014/main" id="{13395B91-BE8B-245B-A0E5-AAE1739DE74B}"/>
              </a:ext>
            </a:extLst>
          </p:cNvPr>
          <p:cNvSpPr txBox="1"/>
          <p:nvPr/>
        </p:nvSpPr>
        <p:spPr>
          <a:xfrm>
            <a:off x="3375025" y="1350705"/>
            <a:ext cx="230032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MySQL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Google Shape;250;p20">
            <a:extLst>
              <a:ext uri="{FF2B5EF4-FFF2-40B4-BE49-F238E27FC236}">
                <a16:creationId xmlns:a16="http://schemas.microsoft.com/office/drawing/2014/main" id="{D51BCDDB-B4DB-489F-ED3C-434CD68D9AAE}"/>
              </a:ext>
            </a:extLst>
          </p:cNvPr>
          <p:cNvSpPr txBox="1"/>
          <p:nvPr/>
        </p:nvSpPr>
        <p:spPr>
          <a:xfrm>
            <a:off x="3313112" y="1505998"/>
            <a:ext cx="232772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pen Sans"/>
              </a:rPr>
              <a:t>Persistance sécurisée des comptes, des offres</a:t>
            </a:r>
            <a:endParaRPr sz="1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Google Shape;251;p20">
            <a:extLst>
              <a:ext uri="{FF2B5EF4-FFF2-40B4-BE49-F238E27FC236}">
                <a16:creationId xmlns:a16="http://schemas.microsoft.com/office/drawing/2014/main" id="{763C63E6-4C7F-4645-CF19-F76003087A2A}"/>
              </a:ext>
            </a:extLst>
          </p:cNvPr>
          <p:cNvSpPr txBox="1"/>
          <p:nvPr/>
        </p:nvSpPr>
        <p:spPr>
          <a:xfrm>
            <a:off x="6094453" y="1498304"/>
            <a:ext cx="230020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Front-End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Google Shape;252;p20">
            <a:extLst>
              <a:ext uri="{FF2B5EF4-FFF2-40B4-BE49-F238E27FC236}">
                <a16:creationId xmlns:a16="http://schemas.microsoft.com/office/drawing/2014/main" id="{8AB9EECE-9A7E-4841-60DF-331850E46DE1}"/>
              </a:ext>
            </a:extLst>
          </p:cNvPr>
          <p:cNvSpPr txBox="1"/>
          <p:nvPr/>
        </p:nvSpPr>
        <p:spPr>
          <a:xfrm>
            <a:off x="6149220" y="1798875"/>
            <a:ext cx="21906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pen Sans"/>
              </a:rPr>
              <a:t>HTML5, CSS3 et interfaces sémantiques réactives.</a:t>
            </a:r>
            <a:endParaRPr sz="1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Google Shape;253;p20">
            <a:extLst>
              <a:ext uri="{FF2B5EF4-FFF2-40B4-BE49-F238E27FC236}">
                <a16:creationId xmlns:a16="http://schemas.microsoft.com/office/drawing/2014/main" id="{7C84445D-DE02-AA9B-3525-DF07A206783F}"/>
              </a:ext>
            </a:extLst>
          </p:cNvPr>
          <p:cNvSpPr txBox="1"/>
          <p:nvPr/>
        </p:nvSpPr>
        <p:spPr>
          <a:xfrm>
            <a:off x="655715" y="3157538"/>
            <a:ext cx="230020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JS &amp; AJAX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Google Shape;254;p20">
            <a:extLst>
              <a:ext uri="{FF2B5EF4-FFF2-40B4-BE49-F238E27FC236}">
                <a16:creationId xmlns:a16="http://schemas.microsoft.com/office/drawing/2014/main" id="{F57296A9-9366-2C54-39F8-FD9E121D7769}"/>
              </a:ext>
            </a:extLst>
          </p:cNvPr>
          <p:cNvSpPr txBox="1"/>
          <p:nvPr/>
        </p:nvSpPr>
        <p:spPr>
          <a:xfrm>
            <a:off x="710482" y="3436144"/>
            <a:ext cx="21906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pen Sans"/>
              </a:rPr>
              <a:t>Expérience fluide de chargement sans rafraîchir l'interface.</a:t>
            </a:r>
            <a:endParaRPr sz="1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Google Shape;255;p20">
            <a:extLst>
              <a:ext uri="{FF2B5EF4-FFF2-40B4-BE49-F238E27FC236}">
                <a16:creationId xmlns:a16="http://schemas.microsoft.com/office/drawing/2014/main" id="{779F5931-7222-5F65-9B51-C79E94C64872}"/>
              </a:ext>
            </a:extLst>
          </p:cNvPr>
          <p:cNvSpPr txBox="1"/>
          <p:nvPr/>
        </p:nvSpPr>
        <p:spPr>
          <a:xfrm>
            <a:off x="3320255" y="3112979"/>
            <a:ext cx="230032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Gemini API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Google Shape;256;p20">
            <a:extLst>
              <a:ext uri="{FF2B5EF4-FFF2-40B4-BE49-F238E27FC236}">
                <a16:creationId xmlns:a16="http://schemas.microsoft.com/office/drawing/2014/main" id="{0A247330-C2A1-3734-2C15-D175DDFBBB13}"/>
              </a:ext>
            </a:extLst>
          </p:cNvPr>
          <p:cNvSpPr txBox="1"/>
          <p:nvPr/>
        </p:nvSpPr>
        <p:spPr>
          <a:xfrm>
            <a:off x="3429795" y="3436144"/>
            <a:ext cx="219078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pen Sans"/>
              </a:rPr>
              <a:t>Extraction sémantique et calcul du score de correspondance.</a:t>
            </a:r>
            <a:endParaRPr sz="1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Google Shape;257;p20">
            <a:extLst>
              <a:ext uri="{FF2B5EF4-FFF2-40B4-BE49-F238E27FC236}">
                <a16:creationId xmlns:a16="http://schemas.microsoft.com/office/drawing/2014/main" id="{68410DC7-3D72-4D57-703D-80C4418CA5B9}"/>
              </a:ext>
            </a:extLst>
          </p:cNvPr>
          <p:cNvSpPr txBox="1"/>
          <p:nvPr/>
        </p:nvSpPr>
        <p:spPr>
          <a:xfrm>
            <a:off x="5977769" y="3318082"/>
            <a:ext cx="23002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b="1" dirty="0"/>
              <a:t>Bootstrap 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9" name="Google Shape;259;p20" descr="image.png">
            <a:extLst>
              <a:ext uri="{FF2B5EF4-FFF2-40B4-BE49-F238E27FC236}">
                <a16:creationId xmlns:a16="http://schemas.microsoft.com/office/drawing/2014/main" id="{55EBAC10-0012-9C0E-6BA7-C5BCC7A79B0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630434" y="1053801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260;p20" descr="image.png">
            <a:extLst>
              <a:ext uri="{FF2B5EF4-FFF2-40B4-BE49-F238E27FC236}">
                <a16:creationId xmlns:a16="http://schemas.microsoft.com/office/drawing/2014/main" id="{F7D41E1C-2BB1-5ABA-3779-8F46F6652D64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25120" y="110951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261;p20" descr="image.png">
            <a:extLst>
              <a:ext uri="{FF2B5EF4-FFF2-40B4-BE49-F238E27FC236}">
                <a16:creationId xmlns:a16="http://schemas.microsoft.com/office/drawing/2014/main" id="{B6F40072-538F-1844-ED4A-F3980B123EDE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58832" y="1241673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262;p20" descr="image.png">
            <a:extLst>
              <a:ext uri="{FF2B5EF4-FFF2-40B4-BE49-F238E27FC236}">
                <a16:creationId xmlns:a16="http://schemas.microsoft.com/office/drawing/2014/main" id="{E3680BBB-F849-0936-4BF0-658656608F0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705807" y="280749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263;p20" descr="image.png">
            <a:extLst>
              <a:ext uri="{FF2B5EF4-FFF2-40B4-BE49-F238E27FC236}">
                <a16:creationId xmlns:a16="http://schemas.microsoft.com/office/drawing/2014/main" id="{4F6CAF4B-B79E-26A2-ED53-88225CA7BBCB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396545" y="2807494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265;p20">
            <a:extLst>
              <a:ext uri="{FF2B5EF4-FFF2-40B4-BE49-F238E27FC236}">
                <a16:creationId xmlns:a16="http://schemas.microsoft.com/office/drawing/2014/main" id="{81F7CFB7-7639-945D-9CA2-AE1C9A2AF108}"/>
              </a:ext>
            </a:extLst>
          </p:cNvPr>
          <p:cNvSpPr txBox="1"/>
          <p:nvPr/>
        </p:nvSpPr>
        <p:spPr>
          <a:xfrm>
            <a:off x="378976" y="160389"/>
            <a:ext cx="838604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7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ExtraBold"/>
              </a:rPr>
              <a:t>ÉCOSYSTÈME TECHNOLOGIQUE</a:t>
            </a:r>
            <a:endParaRPr sz="1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1E12307-01F4-CC0F-6B52-53B8134E785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31794" y="2838110"/>
            <a:ext cx="498488" cy="49848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342A19B-9C23-64CC-B08A-DBD81A9AB796}"/>
              </a:ext>
            </a:extLst>
          </p:cNvPr>
          <p:cNvSpPr txBox="1"/>
          <p:nvPr/>
        </p:nvSpPr>
        <p:spPr>
          <a:xfrm>
            <a:off x="6149219" y="3624260"/>
            <a:ext cx="2131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l'apparence du site</a:t>
            </a:r>
            <a:endParaRPr lang="fr-FR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99FDBAE2-2786-C507-589F-D02A52CD1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83" y="47654"/>
            <a:ext cx="7704000" cy="572700"/>
          </a:xfrm>
        </p:spPr>
        <p:txBody>
          <a:bodyPr/>
          <a:lstStyle/>
          <a:p>
            <a:r>
              <a:rPr lang="fr-FR" sz="28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SÉCURISATION DE LA PLATEFORME</a:t>
            </a:r>
            <a:endParaRPr lang="fr-FR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3D63855-67C1-6B57-14C0-F90D7BAB1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640" y="3154679"/>
            <a:ext cx="1885086" cy="1866901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169EE58B-345B-FF9A-9F55-14B2173DEB5C}"/>
              </a:ext>
            </a:extLst>
          </p:cNvPr>
          <p:cNvSpPr txBox="1"/>
          <p:nvPr/>
        </p:nvSpPr>
        <p:spPr>
          <a:xfrm>
            <a:off x="91087" y="897014"/>
            <a:ext cx="8050192" cy="2518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Clr>
                <a:schemeClr val="bg1"/>
              </a:buClr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fr-FR" sz="2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Mots de passe</a:t>
            </a:r>
            <a:r>
              <a:rPr lang="fr-FR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: Chiffrés avec Bcrypt .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Clr>
                <a:schemeClr val="bg1"/>
              </a:buClr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fr-FR" sz="2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Piratage</a:t>
            </a:r>
            <a:r>
              <a:rPr lang="fr-FR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: Protection contre les attaques SQL, XSS et CSRF.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Clr>
                <a:schemeClr val="bg1"/>
              </a:buClr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fr-FR" sz="2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Fichiers</a:t>
            </a:r>
            <a:r>
              <a:rPr lang="fr-FR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: Seuls les PDF de moins de 5 Mo sont acceptés.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Clr>
                <a:schemeClr val="bg1"/>
              </a:buClr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fr-FR" sz="2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Noms des fichiers</a:t>
            </a:r>
            <a:r>
              <a:rPr lang="fr-FR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: Renommés automatiquement pour plus de sécurité.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48"/>
          <p:cNvSpPr txBox="1">
            <a:spLocks noGrp="1"/>
          </p:cNvSpPr>
          <p:nvPr>
            <p:ph type="title"/>
          </p:nvPr>
        </p:nvSpPr>
        <p:spPr>
          <a:xfrm>
            <a:off x="29952" y="-165709"/>
            <a:ext cx="8957565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DÉMONSTRATION DE L'APPLICATION</a:t>
            </a:r>
            <a:endParaRPr lang="fr-FR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91" name="Google Shape;1191;p48"/>
          <p:cNvGrpSpPr/>
          <p:nvPr/>
        </p:nvGrpSpPr>
        <p:grpSpPr>
          <a:xfrm>
            <a:off x="6766696" y="2425455"/>
            <a:ext cx="2377304" cy="2377303"/>
            <a:chOff x="5612559" y="834972"/>
            <a:chExt cx="3473559" cy="3473558"/>
          </a:xfrm>
        </p:grpSpPr>
        <p:sp>
          <p:nvSpPr>
            <p:cNvPr id="1192" name="Google Shape;1192;p48"/>
            <p:cNvSpPr/>
            <p:nvPr/>
          </p:nvSpPr>
          <p:spPr>
            <a:xfrm>
              <a:off x="5633446" y="3018036"/>
              <a:ext cx="2894635" cy="1273649"/>
            </a:xfrm>
            <a:custGeom>
              <a:avLst/>
              <a:gdLst/>
              <a:ahLst/>
              <a:cxnLst/>
              <a:rect l="l" t="t" r="r" b="b"/>
              <a:pathLst>
                <a:path w="163101" h="71765" extrusionOk="0">
                  <a:moveTo>
                    <a:pt x="1" y="0"/>
                  </a:moveTo>
                  <a:lnTo>
                    <a:pt x="1" y="58716"/>
                  </a:lnTo>
                  <a:cubicBezTo>
                    <a:pt x="1" y="65925"/>
                    <a:pt x="5840" y="71764"/>
                    <a:pt x="13049" y="71764"/>
                  </a:cubicBezTo>
                  <a:lnTo>
                    <a:pt x="163100" y="71764"/>
                  </a:lnTo>
                  <a:cubicBezTo>
                    <a:pt x="155891" y="71764"/>
                    <a:pt x="150052" y="65925"/>
                    <a:pt x="150052" y="58716"/>
                  </a:cubicBezTo>
                  <a:lnTo>
                    <a:pt x="1500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3" name="Google Shape;1193;p48"/>
            <p:cNvSpPr/>
            <p:nvPr/>
          </p:nvSpPr>
          <p:spPr>
            <a:xfrm>
              <a:off x="5612559" y="2571742"/>
              <a:ext cx="2663066" cy="463157"/>
            </a:xfrm>
            <a:custGeom>
              <a:avLst/>
              <a:gdLst/>
              <a:ahLst/>
              <a:cxnLst/>
              <a:rect l="l" t="t" r="r" b="b"/>
              <a:pathLst>
                <a:path w="150053" h="26097" extrusionOk="0">
                  <a:moveTo>
                    <a:pt x="13049" y="1"/>
                  </a:moveTo>
                  <a:cubicBezTo>
                    <a:pt x="5840" y="1"/>
                    <a:pt x="1" y="5840"/>
                    <a:pt x="1" y="13049"/>
                  </a:cubicBezTo>
                  <a:lnTo>
                    <a:pt x="1" y="26096"/>
                  </a:lnTo>
                  <a:lnTo>
                    <a:pt x="150052" y="26096"/>
                  </a:lnTo>
                  <a:cubicBezTo>
                    <a:pt x="150052" y="18887"/>
                    <a:pt x="144213" y="13049"/>
                    <a:pt x="137004" y="13049"/>
                  </a:cubicBezTo>
                  <a:lnTo>
                    <a:pt x="52193" y="13049"/>
                  </a:lnTo>
                  <a:lnTo>
                    <a:pt x="46321" y="5220"/>
                  </a:lnTo>
                  <a:cubicBezTo>
                    <a:pt x="43842" y="1925"/>
                    <a:pt x="39993" y="1"/>
                    <a:pt x="35883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4" name="Google Shape;1194;p48"/>
            <p:cNvSpPr/>
            <p:nvPr/>
          </p:nvSpPr>
          <p:spPr>
            <a:xfrm>
              <a:off x="6075698" y="1413895"/>
              <a:ext cx="2663066" cy="2894635"/>
            </a:xfrm>
            <a:custGeom>
              <a:avLst/>
              <a:gdLst/>
              <a:ahLst/>
              <a:cxnLst/>
              <a:rect l="l" t="t" r="r" b="b"/>
              <a:pathLst>
                <a:path w="150053" h="163101" extrusionOk="0">
                  <a:moveTo>
                    <a:pt x="55455" y="1"/>
                  </a:moveTo>
                  <a:lnTo>
                    <a:pt x="48931" y="6525"/>
                  </a:lnTo>
                  <a:lnTo>
                    <a:pt x="1" y="6525"/>
                  </a:lnTo>
                  <a:lnTo>
                    <a:pt x="1" y="65241"/>
                  </a:lnTo>
                  <a:lnTo>
                    <a:pt x="9787" y="65241"/>
                  </a:lnTo>
                  <a:cubicBezTo>
                    <a:pt x="13897" y="65241"/>
                    <a:pt x="17746" y="67165"/>
                    <a:pt x="20225" y="70460"/>
                  </a:cubicBezTo>
                  <a:lnTo>
                    <a:pt x="26097" y="78289"/>
                  </a:lnTo>
                  <a:lnTo>
                    <a:pt x="110908" y="78289"/>
                  </a:lnTo>
                  <a:cubicBezTo>
                    <a:pt x="118117" y="78289"/>
                    <a:pt x="123956" y="84127"/>
                    <a:pt x="123956" y="91336"/>
                  </a:cubicBezTo>
                  <a:lnTo>
                    <a:pt x="123956" y="150052"/>
                  </a:lnTo>
                  <a:cubicBezTo>
                    <a:pt x="123956" y="157261"/>
                    <a:pt x="129795" y="163100"/>
                    <a:pt x="137004" y="163100"/>
                  </a:cubicBezTo>
                  <a:cubicBezTo>
                    <a:pt x="140592" y="163100"/>
                    <a:pt x="143854" y="161632"/>
                    <a:pt x="146236" y="159284"/>
                  </a:cubicBezTo>
                  <a:cubicBezTo>
                    <a:pt x="148584" y="156902"/>
                    <a:pt x="150052" y="153640"/>
                    <a:pt x="150052" y="150052"/>
                  </a:cubicBezTo>
                  <a:lnTo>
                    <a:pt x="150052" y="40417"/>
                  </a:lnTo>
                  <a:lnTo>
                    <a:pt x="143463" y="36437"/>
                  </a:lnTo>
                  <a:cubicBezTo>
                    <a:pt x="143137" y="36600"/>
                    <a:pt x="142811" y="36698"/>
                    <a:pt x="142484" y="36829"/>
                  </a:cubicBezTo>
                  <a:lnTo>
                    <a:pt x="140266" y="45669"/>
                  </a:lnTo>
                  <a:lnTo>
                    <a:pt x="120694" y="45669"/>
                  </a:lnTo>
                  <a:lnTo>
                    <a:pt x="118476" y="36829"/>
                  </a:lnTo>
                  <a:cubicBezTo>
                    <a:pt x="118150" y="36698"/>
                    <a:pt x="117824" y="36600"/>
                    <a:pt x="117498" y="36437"/>
                  </a:cubicBezTo>
                  <a:lnTo>
                    <a:pt x="109734" y="41134"/>
                  </a:lnTo>
                  <a:lnTo>
                    <a:pt x="95871" y="27271"/>
                  </a:lnTo>
                  <a:lnTo>
                    <a:pt x="100568" y="19508"/>
                  </a:lnTo>
                  <a:cubicBezTo>
                    <a:pt x="100405" y="19181"/>
                    <a:pt x="100307" y="18855"/>
                    <a:pt x="100176" y="18529"/>
                  </a:cubicBezTo>
                  <a:lnTo>
                    <a:pt x="91336" y="16311"/>
                  </a:lnTo>
                  <a:lnTo>
                    <a:pt x="913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8"/>
            <p:cNvSpPr/>
            <p:nvPr/>
          </p:nvSpPr>
          <p:spPr>
            <a:xfrm>
              <a:off x="6075698" y="1066541"/>
              <a:ext cx="1796420" cy="463157"/>
            </a:xfrm>
            <a:custGeom>
              <a:avLst/>
              <a:gdLst/>
              <a:ahLst/>
              <a:cxnLst/>
              <a:rect l="l" t="t" r="r" b="b"/>
              <a:pathLst>
                <a:path w="101221" h="26097" extrusionOk="0">
                  <a:moveTo>
                    <a:pt x="1" y="1"/>
                  </a:moveTo>
                  <a:lnTo>
                    <a:pt x="1" y="26097"/>
                  </a:lnTo>
                  <a:lnTo>
                    <a:pt x="48931" y="26097"/>
                  </a:lnTo>
                  <a:lnTo>
                    <a:pt x="55455" y="19573"/>
                  </a:lnTo>
                  <a:lnTo>
                    <a:pt x="91336" y="19573"/>
                  </a:lnTo>
                  <a:lnTo>
                    <a:pt x="91336" y="16311"/>
                  </a:lnTo>
                  <a:lnTo>
                    <a:pt x="100176" y="14093"/>
                  </a:lnTo>
                  <a:cubicBezTo>
                    <a:pt x="100307" y="13767"/>
                    <a:pt x="100405" y="13440"/>
                    <a:pt x="100568" y="13114"/>
                  </a:cubicBezTo>
                  <a:lnTo>
                    <a:pt x="95871" y="5351"/>
                  </a:lnTo>
                  <a:lnTo>
                    <a:pt x="101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8"/>
            <p:cNvSpPr/>
            <p:nvPr/>
          </p:nvSpPr>
          <p:spPr>
            <a:xfrm>
              <a:off x="8044038" y="1182326"/>
              <a:ext cx="694726" cy="694726"/>
            </a:xfrm>
            <a:custGeom>
              <a:avLst/>
              <a:gdLst/>
              <a:ahLst/>
              <a:cxnLst/>
              <a:rect l="l" t="t" r="r" b="b"/>
              <a:pathLst>
                <a:path w="39145" h="39145" extrusionOk="0">
                  <a:moveTo>
                    <a:pt x="19572" y="13049"/>
                  </a:moveTo>
                  <a:cubicBezTo>
                    <a:pt x="23161" y="13049"/>
                    <a:pt x="26096" y="15985"/>
                    <a:pt x="26096" y="19573"/>
                  </a:cubicBezTo>
                  <a:cubicBezTo>
                    <a:pt x="26096" y="23161"/>
                    <a:pt x="23161" y="26097"/>
                    <a:pt x="19572" y="26097"/>
                  </a:cubicBezTo>
                  <a:cubicBezTo>
                    <a:pt x="15984" y="26097"/>
                    <a:pt x="13048" y="23161"/>
                    <a:pt x="13048" y="19573"/>
                  </a:cubicBezTo>
                  <a:cubicBezTo>
                    <a:pt x="13048" y="15985"/>
                    <a:pt x="15984" y="13049"/>
                    <a:pt x="19572" y="13049"/>
                  </a:cubicBezTo>
                  <a:close/>
                  <a:moveTo>
                    <a:pt x="19572" y="1"/>
                  </a:moveTo>
                  <a:cubicBezTo>
                    <a:pt x="8775" y="1"/>
                    <a:pt x="0" y="8776"/>
                    <a:pt x="0" y="19573"/>
                  </a:cubicBezTo>
                  <a:cubicBezTo>
                    <a:pt x="0" y="30370"/>
                    <a:pt x="8775" y="39145"/>
                    <a:pt x="19572" y="39145"/>
                  </a:cubicBezTo>
                  <a:cubicBezTo>
                    <a:pt x="30369" y="39145"/>
                    <a:pt x="39144" y="30370"/>
                    <a:pt x="39144" y="19573"/>
                  </a:cubicBezTo>
                  <a:cubicBezTo>
                    <a:pt x="39144" y="8776"/>
                    <a:pt x="30369" y="1"/>
                    <a:pt x="195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8"/>
            <p:cNvSpPr/>
            <p:nvPr/>
          </p:nvSpPr>
          <p:spPr>
            <a:xfrm>
              <a:off x="7696684" y="834972"/>
              <a:ext cx="1389434" cy="1389434"/>
            </a:xfrm>
            <a:custGeom>
              <a:avLst/>
              <a:gdLst/>
              <a:ahLst/>
              <a:cxnLst/>
              <a:rect l="l" t="t" r="r" b="b"/>
              <a:pathLst>
                <a:path w="78289" h="78289" extrusionOk="0">
                  <a:moveTo>
                    <a:pt x="39144" y="19573"/>
                  </a:moveTo>
                  <a:cubicBezTo>
                    <a:pt x="49941" y="19573"/>
                    <a:pt x="58716" y="28348"/>
                    <a:pt x="58716" y="39145"/>
                  </a:cubicBezTo>
                  <a:cubicBezTo>
                    <a:pt x="58716" y="49942"/>
                    <a:pt x="49941" y="58717"/>
                    <a:pt x="39144" y="58717"/>
                  </a:cubicBezTo>
                  <a:cubicBezTo>
                    <a:pt x="28347" y="58717"/>
                    <a:pt x="19572" y="49942"/>
                    <a:pt x="19572" y="39145"/>
                  </a:cubicBezTo>
                  <a:cubicBezTo>
                    <a:pt x="19572" y="28348"/>
                    <a:pt x="28347" y="19573"/>
                    <a:pt x="39144" y="19573"/>
                  </a:cubicBezTo>
                  <a:close/>
                  <a:moveTo>
                    <a:pt x="29358" y="1"/>
                  </a:moveTo>
                  <a:lnTo>
                    <a:pt x="27140" y="8841"/>
                  </a:lnTo>
                  <a:cubicBezTo>
                    <a:pt x="26814" y="8971"/>
                    <a:pt x="26488" y="9069"/>
                    <a:pt x="26162" y="9232"/>
                  </a:cubicBezTo>
                  <a:lnTo>
                    <a:pt x="18398" y="4535"/>
                  </a:lnTo>
                  <a:lnTo>
                    <a:pt x="9884" y="13049"/>
                  </a:lnTo>
                  <a:lnTo>
                    <a:pt x="4535" y="18399"/>
                  </a:lnTo>
                  <a:lnTo>
                    <a:pt x="9232" y="26162"/>
                  </a:lnTo>
                  <a:cubicBezTo>
                    <a:pt x="9069" y="26488"/>
                    <a:pt x="8971" y="26815"/>
                    <a:pt x="8840" y="27141"/>
                  </a:cubicBezTo>
                  <a:lnTo>
                    <a:pt x="0" y="29359"/>
                  </a:lnTo>
                  <a:lnTo>
                    <a:pt x="0" y="32621"/>
                  </a:lnTo>
                  <a:lnTo>
                    <a:pt x="0" y="48931"/>
                  </a:lnTo>
                  <a:lnTo>
                    <a:pt x="8840" y="51149"/>
                  </a:lnTo>
                  <a:cubicBezTo>
                    <a:pt x="8971" y="51475"/>
                    <a:pt x="9069" y="51801"/>
                    <a:pt x="9232" y="52128"/>
                  </a:cubicBezTo>
                  <a:lnTo>
                    <a:pt x="4535" y="59891"/>
                  </a:lnTo>
                  <a:lnTo>
                    <a:pt x="18398" y="73754"/>
                  </a:lnTo>
                  <a:lnTo>
                    <a:pt x="26162" y="69057"/>
                  </a:lnTo>
                  <a:cubicBezTo>
                    <a:pt x="26488" y="69220"/>
                    <a:pt x="26814" y="69318"/>
                    <a:pt x="27140" y="69449"/>
                  </a:cubicBezTo>
                  <a:lnTo>
                    <a:pt x="29358" y="78289"/>
                  </a:lnTo>
                  <a:lnTo>
                    <a:pt x="48930" y="78289"/>
                  </a:lnTo>
                  <a:lnTo>
                    <a:pt x="51148" y="69449"/>
                  </a:lnTo>
                  <a:cubicBezTo>
                    <a:pt x="51475" y="69318"/>
                    <a:pt x="51801" y="69220"/>
                    <a:pt x="52127" y="69057"/>
                  </a:cubicBezTo>
                  <a:lnTo>
                    <a:pt x="58716" y="73037"/>
                  </a:lnTo>
                  <a:lnTo>
                    <a:pt x="59891" y="73754"/>
                  </a:lnTo>
                  <a:lnTo>
                    <a:pt x="73754" y="59891"/>
                  </a:lnTo>
                  <a:lnTo>
                    <a:pt x="69057" y="52128"/>
                  </a:lnTo>
                  <a:cubicBezTo>
                    <a:pt x="69220" y="51801"/>
                    <a:pt x="69318" y="51475"/>
                    <a:pt x="69448" y="51149"/>
                  </a:cubicBezTo>
                  <a:lnTo>
                    <a:pt x="78288" y="48931"/>
                  </a:lnTo>
                  <a:lnTo>
                    <a:pt x="78288" y="29359"/>
                  </a:lnTo>
                  <a:lnTo>
                    <a:pt x="69448" y="27141"/>
                  </a:lnTo>
                  <a:cubicBezTo>
                    <a:pt x="69318" y="26815"/>
                    <a:pt x="69220" y="26488"/>
                    <a:pt x="69057" y="26162"/>
                  </a:cubicBezTo>
                  <a:lnTo>
                    <a:pt x="73754" y="18399"/>
                  </a:lnTo>
                  <a:lnTo>
                    <a:pt x="59891" y="4535"/>
                  </a:lnTo>
                  <a:lnTo>
                    <a:pt x="52127" y="9232"/>
                  </a:lnTo>
                  <a:cubicBezTo>
                    <a:pt x="51801" y="9069"/>
                    <a:pt x="51475" y="8971"/>
                    <a:pt x="51148" y="8841"/>
                  </a:cubicBezTo>
                  <a:lnTo>
                    <a:pt x="489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8"/>
            <p:cNvSpPr/>
            <p:nvPr/>
          </p:nvSpPr>
          <p:spPr>
            <a:xfrm>
              <a:off x="6249375" y="1240218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8"/>
            <p:cNvSpPr/>
            <p:nvPr/>
          </p:nvSpPr>
          <p:spPr>
            <a:xfrm>
              <a:off x="6712514" y="1240218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8"/>
            <p:cNvSpPr/>
            <p:nvPr/>
          </p:nvSpPr>
          <p:spPr>
            <a:xfrm>
              <a:off x="6480945" y="1240218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8"/>
            <p:cNvSpPr/>
            <p:nvPr/>
          </p:nvSpPr>
          <p:spPr>
            <a:xfrm>
              <a:off x="7986146" y="1124433"/>
              <a:ext cx="810511" cy="810511"/>
            </a:xfrm>
            <a:custGeom>
              <a:avLst/>
              <a:gdLst/>
              <a:ahLst/>
              <a:cxnLst/>
              <a:rect l="l" t="t" r="r" b="b"/>
              <a:pathLst>
                <a:path w="45669" h="45669" extrusionOk="0">
                  <a:moveTo>
                    <a:pt x="22834" y="6525"/>
                  </a:moveTo>
                  <a:cubicBezTo>
                    <a:pt x="31837" y="6525"/>
                    <a:pt x="39144" y="13832"/>
                    <a:pt x="39144" y="22835"/>
                  </a:cubicBezTo>
                  <a:cubicBezTo>
                    <a:pt x="39144" y="31838"/>
                    <a:pt x="31837" y="39145"/>
                    <a:pt x="22834" y="39145"/>
                  </a:cubicBezTo>
                  <a:cubicBezTo>
                    <a:pt x="13831" y="39145"/>
                    <a:pt x="6524" y="31838"/>
                    <a:pt x="6524" y="22835"/>
                  </a:cubicBezTo>
                  <a:cubicBezTo>
                    <a:pt x="6524" y="13832"/>
                    <a:pt x="13831" y="6525"/>
                    <a:pt x="22834" y="6525"/>
                  </a:cubicBezTo>
                  <a:close/>
                  <a:moveTo>
                    <a:pt x="22834" y="1"/>
                  </a:moveTo>
                  <a:cubicBezTo>
                    <a:pt x="10243" y="1"/>
                    <a:pt x="0" y="10244"/>
                    <a:pt x="0" y="22835"/>
                  </a:cubicBezTo>
                  <a:cubicBezTo>
                    <a:pt x="0" y="35426"/>
                    <a:pt x="10243" y="45669"/>
                    <a:pt x="22834" y="45669"/>
                  </a:cubicBezTo>
                  <a:cubicBezTo>
                    <a:pt x="35426" y="45669"/>
                    <a:pt x="45668" y="35426"/>
                    <a:pt x="45668" y="22835"/>
                  </a:cubicBezTo>
                  <a:cubicBezTo>
                    <a:pt x="45668" y="10244"/>
                    <a:pt x="35426" y="1"/>
                    <a:pt x="22834" y="1"/>
                  </a:cubicBezTo>
                  <a:close/>
                </a:path>
              </a:pathLst>
            </a:custGeom>
            <a:solidFill>
              <a:srgbClr val="26A2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8"/>
            <p:cNvSpPr/>
            <p:nvPr/>
          </p:nvSpPr>
          <p:spPr>
            <a:xfrm>
              <a:off x="6249375" y="2745419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8"/>
            <p:cNvSpPr/>
            <p:nvPr/>
          </p:nvSpPr>
          <p:spPr>
            <a:xfrm>
              <a:off x="6017806" y="2745419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8"/>
            <p:cNvSpPr/>
            <p:nvPr/>
          </p:nvSpPr>
          <p:spPr>
            <a:xfrm>
              <a:off x="5786237" y="2745419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8"/>
            <p:cNvSpPr/>
            <p:nvPr/>
          </p:nvSpPr>
          <p:spPr>
            <a:xfrm>
              <a:off x="6210597" y="1714946"/>
              <a:ext cx="362990" cy="439996"/>
            </a:xfrm>
            <a:custGeom>
              <a:avLst/>
              <a:gdLst/>
              <a:ahLst/>
              <a:cxnLst/>
              <a:rect l="l" t="t" r="r" b="b"/>
              <a:pathLst>
                <a:path w="20453" h="24792" extrusionOk="0">
                  <a:moveTo>
                    <a:pt x="16539" y="0"/>
                  </a:moveTo>
                  <a:lnTo>
                    <a:pt x="0" y="12396"/>
                  </a:lnTo>
                  <a:lnTo>
                    <a:pt x="16539" y="24791"/>
                  </a:lnTo>
                  <a:lnTo>
                    <a:pt x="20453" y="19572"/>
                  </a:lnTo>
                  <a:lnTo>
                    <a:pt x="10895" y="12396"/>
                  </a:lnTo>
                  <a:lnTo>
                    <a:pt x="20453" y="5219"/>
                  </a:lnTo>
                  <a:lnTo>
                    <a:pt x="16539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8"/>
            <p:cNvSpPr/>
            <p:nvPr/>
          </p:nvSpPr>
          <p:spPr>
            <a:xfrm>
              <a:off x="7719844" y="2178085"/>
              <a:ext cx="362990" cy="439996"/>
            </a:xfrm>
            <a:custGeom>
              <a:avLst/>
              <a:gdLst/>
              <a:ahLst/>
              <a:cxnLst/>
              <a:rect l="l" t="t" r="r" b="b"/>
              <a:pathLst>
                <a:path w="20453" h="24792" extrusionOk="0">
                  <a:moveTo>
                    <a:pt x="3915" y="0"/>
                  </a:moveTo>
                  <a:lnTo>
                    <a:pt x="0" y="5219"/>
                  </a:lnTo>
                  <a:lnTo>
                    <a:pt x="9558" y="12396"/>
                  </a:lnTo>
                  <a:lnTo>
                    <a:pt x="0" y="19572"/>
                  </a:lnTo>
                  <a:lnTo>
                    <a:pt x="3915" y="24791"/>
                  </a:lnTo>
                  <a:lnTo>
                    <a:pt x="20453" y="12396"/>
                  </a:lnTo>
                  <a:lnTo>
                    <a:pt x="3915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8"/>
            <p:cNvSpPr/>
            <p:nvPr/>
          </p:nvSpPr>
          <p:spPr>
            <a:xfrm>
              <a:off x="6712514" y="1703357"/>
              <a:ext cx="810511" cy="115802"/>
            </a:xfrm>
            <a:custGeom>
              <a:avLst/>
              <a:gdLst/>
              <a:ahLst/>
              <a:cxnLst/>
              <a:rect l="l" t="t" r="r" b="b"/>
              <a:pathLst>
                <a:path w="45669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45669" y="6525"/>
                  </a:lnTo>
                  <a:lnTo>
                    <a:pt x="45669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8"/>
            <p:cNvSpPr/>
            <p:nvPr/>
          </p:nvSpPr>
          <p:spPr>
            <a:xfrm>
              <a:off x="6712514" y="1934926"/>
              <a:ext cx="810511" cy="115802"/>
            </a:xfrm>
            <a:custGeom>
              <a:avLst/>
              <a:gdLst/>
              <a:ahLst/>
              <a:cxnLst/>
              <a:rect l="l" t="t" r="r" b="b"/>
              <a:pathLst>
                <a:path w="45669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45669" y="6525"/>
                  </a:lnTo>
                  <a:lnTo>
                    <a:pt x="45669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8"/>
            <p:cNvSpPr/>
            <p:nvPr/>
          </p:nvSpPr>
          <p:spPr>
            <a:xfrm>
              <a:off x="6712514" y="2166496"/>
              <a:ext cx="810511" cy="115802"/>
            </a:xfrm>
            <a:custGeom>
              <a:avLst/>
              <a:gdLst/>
              <a:ahLst/>
              <a:cxnLst/>
              <a:rect l="l" t="t" r="r" b="b"/>
              <a:pathLst>
                <a:path w="45669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45669" y="6525"/>
                  </a:lnTo>
                  <a:lnTo>
                    <a:pt x="45669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8"/>
            <p:cNvSpPr/>
            <p:nvPr/>
          </p:nvSpPr>
          <p:spPr>
            <a:xfrm>
              <a:off x="6712514" y="2398065"/>
              <a:ext cx="578941" cy="115802"/>
            </a:xfrm>
            <a:custGeom>
              <a:avLst/>
              <a:gdLst/>
              <a:ahLst/>
              <a:cxnLst/>
              <a:rect l="l" t="t" r="r" b="b"/>
              <a:pathLst>
                <a:path w="32621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32621" y="6525"/>
                  </a:lnTo>
                  <a:lnTo>
                    <a:pt x="32621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8"/>
            <p:cNvSpPr/>
            <p:nvPr/>
          </p:nvSpPr>
          <p:spPr>
            <a:xfrm>
              <a:off x="7407222" y="2398065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8"/>
            <p:cNvSpPr/>
            <p:nvPr/>
          </p:nvSpPr>
          <p:spPr>
            <a:xfrm>
              <a:off x="7138596" y="3337653"/>
              <a:ext cx="474746" cy="668087"/>
            </a:xfrm>
            <a:custGeom>
              <a:avLst/>
              <a:gdLst/>
              <a:ahLst/>
              <a:cxnLst/>
              <a:rect l="l" t="t" r="r" b="b"/>
              <a:pathLst>
                <a:path w="26750" h="37644" extrusionOk="0">
                  <a:moveTo>
                    <a:pt x="4176" y="1"/>
                  </a:moveTo>
                  <a:lnTo>
                    <a:pt x="1" y="5024"/>
                  </a:lnTo>
                  <a:lnTo>
                    <a:pt x="16572" y="18822"/>
                  </a:lnTo>
                  <a:lnTo>
                    <a:pt x="1" y="32621"/>
                  </a:lnTo>
                  <a:lnTo>
                    <a:pt x="4176" y="37644"/>
                  </a:lnTo>
                  <a:lnTo>
                    <a:pt x="26749" y="18822"/>
                  </a:lnTo>
                  <a:lnTo>
                    <a:pt x="4176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8"/>
            <p:cNvSpPr/>
            <p:nvPr/>
          </p:nvSpPr>
          <p:spPr>
            <a:xfrm>
              <a:off x="6274861" y="3337653"/>
              <a:ext cx="474728" cy="668087"/>
            </a:xfrm>
            <a:custGeom>
              <a:avLst/>
              <a:gdLst/>
              <a:ahLst/>
              <a:cxnLst/>
              <a:rect l="l" t="t" r="r" b="b"/>
              <a:pathLst>
                <a:path w="26749" h="37644" extrusionOk="0">
                  <a:moveTo>
                    <a:pt x="22573" y="1"/>
                  </a:moveTo>
                  <a:lnTo>
                    <a:pt x="0" y="18822"/>
                  </a:lnTo>
                  <a:lnTo>
                    <a:pt x="22573" y="37644"/>
                  </a:lnTo>
                  <a:lnTo>
                    <a:pt x="26748" y="32621"/>
                  </a:lnTo>
                  <a:lnTo>
                    <a:pt x="10177" y="18822"/>
                  </a:lnTo>
                  <a:lnTo>
                    <a:pt x="26748" y="5024"/>
                  </a:lnTo>
                  <a:lnTo>
                    <a:pt x="22573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8"/>
            <p:cNvSpPr/>
            <p:nvPr/>
          </p:nvSpPr>
          <p:spPr>
            <a:xfrm>
              <a:off x="6771560" y="3194662"/>
              <a:ext cx="343325" cy="954088"/>
            </a:xfrm>
            <a:custGeom>
              <a:avLst/>
              <a:gdLst/>
              <a:ahLst/>
              <a:cxnLst/>
              <a:rect l="l" t="t" r="r" b="b"/>
              <a:pathLst>
                <a:path w="19345" h="53759" extrusionOk="0">
                  <a:moveTo>
                    <a:pt x="13016" y="1"/>
                  </a:moveTo>
                  <a:lnTo>
                    <a:pt x="1" y="52160"/>
                  </a:lnTo>
                  <a:lnTo>
                    <a:pt x="6329" y="53758"/>
                  </a:lnTo>
                  <a:lnTo>
                    <a:pt x="19345" y="1566"/>
                  </a:lnTo>
                  <a:lnTo>
                    <a:pt x="13016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8"/>
            <p:cNvSpPr/>
            <p:nvPr/>
          </p:nvSpPr>
          <p:spPr>
            <a:xfrm>
              <a:off x="5786237" y="3671697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8"/>
            <p:cNvSpPr/>
            <p:nvPr/>
          </p:nvSpPr>
          <p:spPr>
            <a:xfrm>
              <a:off x="5786237" y="3208558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8"/>
            <p:cNvSpPr/>
            <p:nvPr/>
          </p:nvSpPr>
          <p:spPr>
            <a:xfrm>
              <a:off x="5786237" y="3440127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8"/>
            <p:cNvSpPr/>
            <p:nvPr/>
          </p:nvSpPr>
          <p:spPr>
            <a:xfrm>
              <a:off x="7986146" y="4019051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8"/>
            <p:cNvSpPr/>
            <p:nvPr/>
          </p:nvSpPr>
          <p:spPr>
            <a:xfrm>
              <a:off x="7986146" y="3555912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8"/>
            <p:cNvSpPr/>
            <p:nvPr/>
          </p:nvSpPr>
          <p:spPr>
            <a:xfrm>
              <a:off x="7986146" y="3787481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8"/>
            <p:cNvSpPr/>
            <p:nvPr/>
          </p:nvSpPr>
          <p:spPr>
            <a:xfrm>
              <a:off x="8449284" y="3787481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8"/>
            <p:cNvSpPr/>
            <p:nvPr/>
          </p:nvSpPr>
          <p:spPr>
            <a:xfrm>
              <a:off x="8449284" y="4019051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8"/>
            <p:cNvSpPr/>
            <p:nvPr/>
          </p:nvSpPr>
          <p:spPr>
            <a:xfrm>
              <a:off x="8449284" y="3555912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4" name="Google Shape;1224;p48"/>
          <p:cNvGrpSpPr/>
          <p:nvPr/>
        </p:nvGrpSpPr>
        <p:grpSpPr>
          <a:xfrm>
            <a:off x="100858" y="1223935"/>
            <a:ext cx="95400" cy="3116250"/>
            <a:chOff x="4524300" y="1013625"/>
            <a:chExt cx="95400" cy="3116250"/>
          </a:xfrm>
        </p:grpSpPr>
        <p:sp>
          <p:nvSpPr>
            <p:cNvPr id="1225" name="Google Shape;1225;p48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8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8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8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8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8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2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ZoneTexte 4">
            <a:hlinkClick r:id="rId3"/>
            <a:extLst>
              <a:ext uri="{FF2B5EF4-FFF2-40B4-BE49-F238E27FC236}">
                <a16:creationId xmlns:a16="http://schemas.microsoft.com/office/drawing/2014/main" id="{1AE65533-DCC9-AFA2-1552-0A7D8DCF1115}"/>
              </a:ext>
            </a:extLst>
          </p:cNvPr>
          <p:cNvSpPr txBox="1"/>
          <p:nvPr/>
        </p:nvSpPr>
        <p:spPr>
          <a:xfrm>
            <a:off x="538265" y="2672991"/>
            <a:ext cx="62878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http://localhost/plateforme_recrutement/index.php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9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501699B-C00D-7E65-EE2E-DC59A692CAD0}"/>
              </a:ext>
            </a:extLst>
          </p:cNvPr>
          <p:cNvSpPr txBox="1"/>
          <p:nvPr/>
        </p:nvSpPr>
        <p:spPr>
          <a:xfrm>
            <a:off x="398319" y="16400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2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ET PERSPECTIVES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AD21487-0A66-D9EF-2895-A5EA722C6A69}"/>
              </a:ext>
            </a:extLst>
          </p:cNvPr>
          <p:cNvSpPr txBox="1"/>
          <p:nvPr/>
        </p:nvSpPr>
        <p:spPr>
          <a:xfrm>
            <a:off x="398319" y="748782"/>
            <a:ext cx="86868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 conclure, les objectifs initiaux ont été atteints et </a:t>
            </a:r>
            <a:r>
              <a:rPr lang="fr-FR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Admissio</a:t>
            </a:r>
            <a:r>
              <a:rPr lang="fr-FR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est aujourd'hui une plateforme pleinement opérationnelle .</a:t>
            </a:r>
          </a:p>
          <a:p>
            <a:pPr algn="just">
              <a:lnSpc>
                <a:spcPct val="150000"/>
              </a:lnSpc>
            </a:pPr>
            <a:r>
              <a:rPr lang="fr-FR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Concernant les perspectives d'évolution future, nous avons identifié trois axes majeurs :</a:t>
            </a:r>
          </a:p>
          <a:p>
            <a:pPr algn="just">
              <a:lnSpc>
                <a:spcPct val="150000"/>
              </a:lnSpc>
            </a:pPr>
            <a:r>
              <a:rPr lang="fr-FR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Premièrement</a:t>
            </a:r>
            <a:r>
              <a:rPr lang="fr-FR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l'intégration d'un module de visioconférence natif pour mener les entretiens d'embauche directement sur le site.</a:t>
            </a:r>
          </a:p>
          <a:p>
            <a:pPr algn="just">
              <a:lnSpc>
                <a:spcPct val="150000"/>
              </a:lnSpc>
            </a:pPr>
            <a:r>
              <a:rPr lang="fr-FR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Deuxièmement</a:t>
            </a:r>
            <a:r>
              <a:rPr lang="fr-FR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le développement d'une application mobile .</a:t>
            </a:r>
          </a:p>
          <a:p>
            <a:pPr algn="just">
              <a:lnSpc>
                <a:spcPct val="150000"/>
              </a:lnSpc>
            </a:pPr>
            <a:r>
              <a:rPr lang="fr-FR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enfin</a:t>
            </a:r>
            <a:r>
              <a:rPr lang="fr-FR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l'interconnexion avec les réseaux professionnels via l'API de LinkedIn pour simplifier encore plus la création de profils. </a:t>
            </a:r>
          </a:p>
          <a:p>
            <a:pPr algn="just">
              <a:lnSpc>
                <a:spcPct val="150000"/>
              </a:lnSpc>
              <a:buClr>
                <a:schemeClr val="bg1"/>
              </a:buClr>
            </a:pPr>
            <a:endParaRPr lang="fr-FR" sz="2000" b="0" i="0" dirty="0">
              <a:solidFill>
                <a:schemeClr val="bg1"/>
              </a:solidFill>
              <a:effectLst/>
              <a:latin typeface="+mj-lt"/>
            </a:endParaRPr>
          </a:p>
          <a:p>
            <a:pPr algn="l"/>
            <a:endParaRPr lang="fr-FR" sz="2000" b="0" i="0" dirty="0">
              <a:solidFill>
                <a:schemeClr val="bg2">
                  <a:lumMod val="10000"/>
                </a:schemeClr>
              </a:solidFill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540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56A2018C-D72B-6347-71D3-35F53FD48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5D835D7-AAAC-CC55-E866-5E1EA853CC04}"/>
              </a:ext>
            </a:extLst>
          </p:cNvPr>
          <p:cNvSpPr/>
          <p:nvPr/>
        </p:nvSpPr>
        <p:spPr>
          <a:xfrm>
            <a:off x="8382000" y="4953000"/>
            <a:ext cx="762000" cy="1905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oftware Development Bussines Plan by Slidesgo">
  <a:themeElements>
    <a:clrScheme name="Simple Light">
      <a:dk1>
        <a:srgbClr val="CEF3F5"/>
      </a:dk1>
      <a:lt1>
        <a:srgbClr val="FFFFFF"/>
      </a:lt1>
      <a:dk2>
        <a:srgbClr val="0A1D42"/>
      </a:dk2>
      <a:lt2>
        <a:srgbClr val="29272C"/>
      </a:lt2>
      <a:accent1>
        <a:srgbClr val="C8AEF8"/>
      </a:accent1>
      <a:accent2>
        <a:srgbClr val="878FFF"/>
      </a:accent2>
      <a:accent3>
        <a:srgbClr val="9154F8"/>
      </a:accent3>
      <a:accent4>
        <a:srgbClr val="35C2DF"/>
      </a:accent4>
      <a:accent5>
        <a:srgbClr val="CA7BEB"/>
      </a:accent5>
      <a:accent6>
        <a:srgbClr val="972CB4"/>
      </a:accent6>
      <a:hlink>
        <a:srgbClr val="CEF3F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10682</TotalTime>
  <Words>452</Words>
  <Application>Microsoft Office PowerPoint</Application>
  <PresentationFormat>Affichage à l'écran (16:9)</PresentationFormat>
  <Paragraphs>62</Paragraphs>
  <Slides>13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4" baseType="lpstr">
      <vt:lpstr>Wingdings</vt:lpstr>
      <vt:lpstr>Livvic</vt:lpstr>
      <vt:lpstr>Roboto</vt:lpstr>
      <vt:lpstr>Roboto Condensed Light</vt:lpstr>
      <vt:lpstr>Arial</vt:lpstr>
      <vt:lpstr>Calibri</vt:lpstr>
      <vt:lpstr>Raleway</vt:lpstr>
      <vt:lpstr>Aptos</vt:lpstr>
      <vt:lpstr>Oswald</vt:lpstr>
      <vt:lpstr>Bahnschrift SemiBold SemiConden</vt:lpstr>
      <vt:lpstr>Software Development Bussines Plan by Slidesgo</vt:lpstr>
      <vt:lpstr>PLATEFORME WEB DE RECRUTEMENT  INTELLIGENTE</vt:lpstr>
      <vt:lpstr>Présentation PowerPoint</vt:lpstr>
      <vt:lpstr>SOLUTION</vt:lpstr>
      <vt:lpstr>Présentation PowerPoint</vt:lpstr>
      <vt:lpstr> METHOLOGIE </vt:lpstr>
      <vt:lpstr>MODÉLISATION </vt:lpstr>
      <vt:lpstr>STRUCTURE DE LA BASE DE DONNÉES </vt:lpstr>
      <vt:lpstr>Présentation PowerPoint</vt:lpstr>
      <vt:lpstr>Présentation PowerPoint</vt:lpstr>
      <vt:lpstr>SÉCURISATION DE LA PLATEFORME</vt:lpstr>
      <vt:lpstr>DÉMONSTRATION DE L'APPLICATION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fatimata tall</dc:creator>
  <cp:lastModifiedBy>mariame tall</cp:lastModifiedBy>
  <cp:revision>39</cp:revision>
  <dcterms:modified xsi:type="dcterms:W3CDTF">2026-07-13T09:52:58Z</dcterms:modified>
</cp:coreProperties>
</file>